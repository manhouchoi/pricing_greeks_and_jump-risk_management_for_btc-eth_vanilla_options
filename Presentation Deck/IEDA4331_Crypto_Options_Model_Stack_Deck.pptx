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6ad23bcbeeb4a5c" /><Relationship Type="http://schemas.openxmlformats.org/officeDocument/2006/relationships/extended-properties" Target="/docProps/app.xml" Id="Redc22a8e20754584" /><Relationship Type="http://schemas.openxmlformats.org/officeDocument/2006/relationships/officeDocument" Target="/ppt/presentation.xml" Id="Rfc115847f09b4cb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2dfd7408f5d4b59"/>
  </p:sldMasterIdLst>
  <p:notesMasterIdLst>
    <p:notesMasterId xmlns:r="http://schemas.openxmlformats.org/officeDocument/2006/relationships" r:id="Rcc9a286fdc3544f7"/>
  </p:notesMasterIdLst>
  <p:sldIdLst>
    <p:sldId xmlns:r="http://schemas.openxmlformats.org/officeDocument/2006/relationships" id="256" r:id="Rbb228b2b20ce4725"/>
    <p:sldId xmlns:r="http://schemas.openxmlformats.org/officeDocument/2006/relationships" id="257" r:id="Re326a4c804504bde"/>
    <p:sldId xmlns:r="http://schemas.openxmlformats.org/officeDocument/2006/relationships" id="258" r:id="R3e82220d6a46421d"/>
    <p:sldId xmlns:r="http://schemas.openxmlformats.org/officeDocument/2006/relationships" id="259" r:id="Re23b14b2824f4c35"/>
    <p:sldId xmlns:r="http://schemas.openxmlformats.org/officeDocument/2006/relationships" id="260" r:id="R0a02ce64c7f948f7"/>
    <p:sldId xmlns:r="http://schemas.openxmlformats.org/officeDocument/2006/relationships" id="261" r:id="Rb1e7bbeec80646d2"/>
    <p:sldId xmlns:r="http://schemas.openxmlformats.org/officeDocument/2006/relationships" id="262" r:id="R729c69ec06d345ce"/>
    <p:sldId xmlns:r="http://schemas.openxmlformats.org/officeDocument/2006/relationships" id="263" r:id="R8610df996eb34d8c"/>
    <p:sldId xmlns:r="http://schemas.openxmlformats.org/officeDocument/2006/relationships" id="264" r:id="Ra6f324c0b2764b30"/>
    <p:sldId xmlns:r="http://schemas.openxmlformats.org/officeDocument/2006/relationships" id="265" r:id="Rb8961c451ff544be"/>
    <p:sldId xmlns:r="http://schemas.openxmlformats.org/officeDocument/2006/relationships" id="266" r:id="R3f1c84849fd647de"/>
    <p:sldId xmlns:r="http://schemas.openxmlformats.org/officeDocument/2006/relationships" id="267" r:id="Refc8fd12628e49c3"/>
    <p:sldId xmlns:r="http://schemas.openxmlformats.org/officeDocument/2006/relationships" id="268" r:id="R5b25eb80497c4b69"/>
    <p:sldId xmlns:r="http://schemas.openxmlformats.org/officeDocument/2006/relationships" id="269" r:id="Rf7c390c456b9426d"/>
    <p:sldId xmlns:r="http://schemas.openxmlformats.org/officeDocument/2006/relationships" id="270" r:id="Rb6162059153441e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dfd7408f5d4b59" /><Relationship Type="http://schemas.openxmlformats.org/officeDocument/2006/relationships/theme" Target="/ppt/theme/theme1.xml" Id="R3800396615e2405e" /><Relationship Type="http://schemas.openxmlformats.org/officeDocument/2006/relationships/notesMaster" Target="/ppt/notesMasters/notesMaster1.xml" Id="Rcc9a286fdc3544f7" /><Relationship Type="http://schemas.openxmlformats.org/officeDocument/2006/relationships/presProps" Target="/ppt/presProps.xml" Id="Rf81709b184844c8a" /><Relationship Type="http://schemas.openxmlformats.org/officeDocument/2006/relationships/viewProps" Target="/ppt/viewProps.xml" Id="Rc2595eb6e79645fb" /><Relationship Type="http://schemas.openxmlformats.org/officeDocument/2006/relationships/tableStyles" Target="/ppt/tableStyles.xml" Id="R1ffe3457fb034726" /><Relationship Type="http://schemas.openxmlformats.org/officeDocument/2006/relationships/slide" Target="/ppt/slides/slide1.xml" Id="Rbb228b2b20ce4725" /><Relationship Type="http://schemas.openxmlformats.org/officeDocument/2006/relationships/slide" Target="/ppt/slides/slide2.xml" Id="Re326a4c804504bde" /><Relationship Type="http://schemas.openxmlformats.org/officeDocument/2006/relationships/slide" Target="/ppt/slides/slide3.xml" Id="R3e82220d6a46421d" /><Relationship Type="http://schemas.openxmlformats.org/officeDocument/2006/relationships/slide" Target="/ppt/slides/slide4.xml" Id="Re23b14b2824f4c35" /><Relationship Type="http://schemas.openxmlformats.org/officeDocument/2006/relationships/slide" Target="/ppt/slides/slide5.xml" Id="R0a02ce64c7f948f7" /><Relationship Type="http://schemas.openxmlformats.org/officeDocument/2006/relationships/slide" Target="/ppt/slides/slide6.xml" Id="Rb1e7bbeec80646d2" /><Relationship Type="http://schemas.openxmlformats.org/officeDocument/2006/relationships/slide" Target="/ppt/slides/slide7.xml" Id="R729c69ec06d345ce" /><Relationship Type="http://schemas.openxmlformats.org/officeDocument/2006/relationships/slide" Target="/ppt/slides/slide8.xml" Id="R8610df996eb34d8c" /><Relationship Type="http://schemas.openxmlformats.org/officeDocument/2006/relationships/slide" Target="/ppt/slides/slide9.xml" Id="Ra6f324c0b2764b30" /><Relationship Type="http://schemas.openxmlformats.org/officeDocument/2006/relationships/slide" Target="/ppt/slides/slide10.xml" Id="Rb8961c451ff544be" /><Relationship Type="http://schemas.openxmlformats.org/officeDocument/2006/relationships/slide" Target="/ppt/slides/slide11.xml" Id="R3f1c84849fd647de" /><Relationship Type="http://schemas.openxmlformats.org/officeDocument/2006/relationships/slide" Target="/ppt/slides/slide12.xml" Id="Refc8fd12628e49c3" /><Relationship Type="http://schemas.openxmlformats.org/officeDocument/2006/relationships/slide" Target="/ppt/slides/slide13.xml" Id="R5b25eb80497c4b69" /><Relationship Type="http://schemas.openxmlformats.org/officeDocument/2006/relationships/slide" Target="/ppt/slides/slide14.xml" Id="Rf7c390c456b9426d" /><Relationship Type="http://schemas.openxmlformats.org/officeDocument/2006/relationships/slide" Target="/ppt/slides/slide15.xml" Id="Rb6162059153441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73e61e06a824e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31575550c3473d" /><Relationship Type="http://schemas.openxmlformats.org/officeDocument/2006/relationships/notesMaster" Target="/ppt/notesMasters/notesMaster1.xml" Id="R89831fd77c03436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ad461d9ea54c26" /><Relationship Type="http://schemas.openxmlformats.org/officeDocument/2006/relationships/notesMaster" Target="/ppt/notesMasters/notesMaster1.xml" Id="Rd3a2a2f4e62c44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8ca84ce40ef46d8" /><Relationship Type="http://schemas.openxmlformats.org/officeDocument/2006/relationships/notesMaster" Target="/ppt/notesMasters/notesMaster1.xml" Id="R917462d35f5e44c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258f1a701a048f1" /><Relationship Type="http://schemas.openxmlformats.org/officeDocument/2006/relationships/notesMaster" Target="/ppt/notesMasters/notesMaster1.xml" Id="Rf541f88a0338492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0ba2f1a4bb4cbb" /><Relationship Type="http://schemas.openxmlformats.org/officeDocument/2006/relationships/notesMaster" Target="/ppt/notesMasters/notesMaster1.xml" Id="R169f9d6c31df49f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9eae24e65de4976" /><Relationship Type="http://schemas.openxmlformats.org/officeDocument/2006/relationships/notesMaster" Target="/ppt/notesMasters/notesMaster1.xml" Id="R9d6fc04f46a94e3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66a4715bcd9451f" /><Relationship Type="http://schemas.openxmlformats.org/officeDocument/2006/relationships/notesMaster" Target="/ppt/notesMasters/notesMaster1.xml" Id="R0bb657e9bc924c3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a7c46d67b8a4c2b" /><Relationship Type="http://schemas.openxmlformats.org/officeDocument/2006/relationships/notesMaster" Target="/ppt/notesMasters/notesMaster1.xml" Id="Rad75a85324234ad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310a676bee4496a" /><Relationship Type="http://schemas.openxmlformats.org/officeDocument/2006/relationships/notesMaster" Target="/ppt/notesMasters/notesMaster1.xml" Id="R341b6eef2cfa4d8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5705f76a13844e0" /><Relationship Type="http://schemas.openxmlformats.org/officeDocument/2006/relationships/notesMaster" Target="/ppt/notesMasters/notesMaster1.xml" Id="Ra40bf9e3be7140e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d0df04643694f90" /><Relationship Type="http://schemas.openxmlformats.org/officeDocument/2006/relationships/notesMaster" Target="/ppt/notesMasters/notesMaster1.xml" Id="Rfba09a4dc17748b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4730d9ec4b14a4c" /><Relationship Type="http://schemas.openxmlformats.org/officeDocument/2006/relationships/notesMaster" Target="/ppt/notesMasters/notesMaster1.xml" Id="R113a1f1d98d2499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c341e0f6df741e6" /><Relationship Type="http://schemas.openxmlformats.org/officeDocument/2006/relationships/notesMaster" Target="/ppt/notesMasters/notesMaster1.xml" Id="Ra452d0c27f19462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1b35e3f66924399" /><Relationship Type="http://schemas.openxmlformats.org/officeDocument/2006/relationships/notesMaster" Target="/ppt/notesMasters/notesMaster1.xml" Id="R99422cdf94734db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99a7b6c96d4421d" /><Relationship Type="http://schemas.openxmlformats.org/officeDocument/2006/relationships/notesMaster" Target="/ppt/notesMasters/notesMaster1.xml" Id="Rf62ef27c6cd647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154d274f9645b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f89727c7b594272" /><Relationship Type="http://schemas.openxmlformats.org/officeDocument/2006/relationships/slideLayout" Target="/ppt/slideLayouts/slideLayout2.xml" Id="Reb90bfdb2313481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90bfdb2313481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d5832543b045fa" /><Relationship Type="http://schemas.openxmlformats.org/officeDocument/2006/relationships/notesSlide" Target="/ppt/notesSlides/notesSlide1.xml" Id="Rb73863526ac44b3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772f882e4c4c70" /><Relationship Type="http://schemas.openxmlformats.org/officeDocument/2006/relationships/image" Target="/ppt/media/image.png" Id="Rdeabe49eefdc4d37" /><Relationship Type="http://schemas.openxmlformats.org/officeDocument/2006/relationships/image" Target="/ppt/media/image2.png" Id="R550c6a600dd940d0" /><Relationship Type="http://schemas.openxmlformats.org/officeDocument/2006/relationships/notesSlide" Target="/ppt/notesSlides/notesSlide2.xml" Id="R4a4109690b8245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c53c50d5064e94" /><Relationship Type="http://schemas.openxmlformats.org/officeDocument/2006/relationships/notesSlide" Target="/ppt/notesSlides/notesSlide3.xml" Id="Rd11248758510433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46b763031849a2" /><Relationship Type="http://schemas.openxmlformats.org/officeDocument/2006/relationships/image" Target="/ppt/media/image3.png" Id="Rc81c59ffbf3c44b1" /><Relationship Type="http://schemas.openxmlformats.org/officeDocument/2006/relationships/notesSlide" Target="/ppt/notesSlides/notesSlide4.xml" Id="R2f2c9b0b3356456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4e5afac25a4c05" /><Relationship Type="http://schemas.openxmlformats.org/officeDocument/2006/relationships/notesSlide" Target="/ppt/notesSlides/notesSlide5.xml" Id="Rd7cd2edadd6d43b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578a8ef3cb4fdb" /><Relationship Type="http://schemas.openxmlformats.org/officeDocument/2006/relationships/notesSlide" Target="/ppt/notesSlides/notesSlide6.xml" Id="R8378fff7f83245f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008e4c9ba24a79" /><Relationship Type="http://schemas.openxmlformats.org/officeDocument/2006/relationships/notesSlide" Target="/ppt/notesSlides/notesSlide7.xml" Id="R0047195760db4fa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2f55f740974851" /><Relationship Type="http://schemas.openxmlformats.org/officeDocument/2006/relationships/notesSlide" Target="/ppt/notesSlides/notesSlide8.xml" Id="R24a8720806ff4da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8f2d13cb904adb" /><Relationship Type="http://schemas.openxmlformats.org/officeDocument/2006/relationships/notesSlide" Target="/ppt/notesSlides/notesSlide9.xml" Id="R8502c484e9e24ed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0989e6449b46d6" /><Relationship Type="http://schemas.openxmlformats.org/officeDocument/2006/relationships/notesSlide" Target="/ppt/notesSlides/notesSlide10.xml" Id="R42c6624765b04c4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bed48ef3ed44e3" /><Relationship Type="http://schemas.openxmlformats.org/officeDocument/2006/relationships/notesSlide" Target="/ppt/notesSlides/notesSlide11.xml" Id="Rec4864b3e2744cd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1de37feef54f65" /><Relationship Type="http://schemas.openxmlformats.org/officeDocument/2006/relationships/notesSlide" Target="/ppt/notesSlides/notesSlide12.xml" Id="Re293b0536480446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a2de2cb1e24995" /><Relationship Type="http://schemas.openxmlformats.org/officeDocument/2006/relationships/notesSlide" Target="/ppt/notesSlides/notesSlide13.xml" Id="R728abc2ca77d49e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4853eacb7e4285" /><Relationship Type="http://schemas.openxmlformats.org/officeDocument/2006/relationships/notesSlide" Target="/ppt/notesSlides/notesSlide14.xml" Id="Rec8770bb77e649e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3e87cc3f2b4999" /><Relationship Type="http://schemas.openxmlformats.org/officeDocument/2006/relationships/notesSlide" Target="/ppt/notesSlides/notesSlide15.xml" Id="R48122b600977490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C95180-9C03-46ED-84D0-EC25003D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C2D23D-2890-44E0-9A6B-3C3D6787A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16BA57-8622-4524-B167-C17E0635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0125"/>
            <a:ext cx="7429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C01377-2FDA-4FC7-A185-DF641E76F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638675"/>
            <a:ext cx="7429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A8B983-DC68-4E3F-96AA-EEA510011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67225"/>
            <a:ext cx="7429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2A6F2E-361B-4206-B823-BD42C7554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295775"/>
            <a:ext cx="74295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0DB0F5-4557-4F90-9EA1-F8E25DE5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124325"/>
            <a:ext cx="7429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674726-6658-4B25-B475-68F84D4A6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952875"/>
            <a:ext cx="7429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2F0B65-8E70-4E53-B012-7273D6FC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781425"/>
            <a:ext cx="74295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814C2E-77A0-412A-B9D1-8CCF02B6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09975"/>
            <a:ext cx="74295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1F4FEE-AA25-474C-AA16-8A160ECAF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3438525"/>
            <a:ext cx="7429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BAE9DE-9F76-422B-A453-24423022B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4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1206E4-C057-4641-9D0E-89A46160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0E2C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F0E2C8"/>
                </a:solidFill>
                <a:latin typeface="Avenir Next"/>
                <a:ea typeface="Avenir Next"/>
                <a:cs typeface="Avenir Next"/>
              </a:rPr>
              <a:t>IEDA4331 CRYPTO OPTIONS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9156A7-2D8C-4631-A97E-3CF373B0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Pricing, Greeks, and Jump-Risk Management for BTC/ETH Vanilla Options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8A6D55-E16A-414E-8EEF-94EA866C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752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DE8ED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DDE8ED"/>
                </a:solidFill>
                <a:latin typeface="Georgia"/>
                <a:ea typeface="Georgia"/>
                <a:cs typeface="Georgia"/>
              </a:rPr>
              <a:t>Thesis: crypto options need a model stack, not a single winner.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AC7E12-D779-4F1A-A62A-C59821DF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57550"/>
            <a:ext cx="685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AC8D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BAC8D3"/>
                </a:solidFill>
                <a:latin typeface="Avenir Next"/>
                <a:ea typeface="Avenir Next"/>
                <a:cs typeface="Avenir Next"/>
              </a:rPr>
              <a:t>We compare Black-Scholes, CRR, Merton, SVCJ, MR-ISVM, Dynamic Jump, and GARCH across pricing accuracy, crash protection, Greeks, and hedging error.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68DDAB-2FD2-4216-8960-FE89AFF9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466850"/>
            <a:ext cx="29527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3"/>
          </a:solidFill>
          <a:ln xmlns:a="http://schemas.openxmlformats.org/drawingml/2006/main" w="9525">
            <a:solidFill>
              <a:srgbClr val="35546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A4D07C-79DA-4846-9898-E768AD77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335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0E2C8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F0E2C8"/>
                </a:solidFill>
                <a:latin typeface="Avenir Next"/>
                <a:ea typeface="Avenir Next"/>
                <a:cs typeface="Avenir Next"/>
              </a:rPr>
              <a:t>Authors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044425-A74A-4DC0-AC2F-33526CE8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764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Choi Man Hou</a:t>
            </a:r>
          </a:p>
          <a:p xmlns:a="http://schemas.openxmlformats.org/drawingml/2006/main">
            <a:pPr algn="l">
              <a:defRPr sz="938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SID: 20894196</a:t>
            </a:r>
          </a:p>
          <a:p xmlns:a="http://schemas.openxmlformats.org/drawingml/2006/main">
            <a:pPr algn="l">
              <a:defRPr sz="938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mhchoiaf@connect.ust.hk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E68C5D-D58B-4890-873E-8BF9C930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00350"/>
            <a:ext cx="219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4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9676FA-AC3E-44DE-B819-19564003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289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Lee Cheuk Yiu</a:t>
            </a:r>
          </a:p>
          <a:p xmlns:a="http://schemas.openxmlformats.org/drawingml/2006/main">
            <a:pPr algn="l">
              <a:defRPr sz="938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SID: 21051040</a:t>
            </a:r>
          </a:p>
          <a:p xmlns:a="http://schemas.openxmlformats.org/drawingml/2006/main">
            <a:pPr algn="l">
              <a:defRPr sz="938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cyleebt@connect.ust.hk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9A89A0-9067-48F8-B6FC-E51998ECC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29150"/>
            <a:ext cx="2333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C3391C-4C72-4E7D-BA77-AC9CFC75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29150"/>
            <a:ext cx="47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E7D1CA-E299-4264-852E-2501029E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81550"/>
            <a:ext cx="20288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QUESTION 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DE62AE-6292-4295-8910-83FE2F5A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91100"/>
            <a:ext cx="20288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2235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0B2235"/>
                </a:solidFill>
                <a:latin typeface="Georgia"/>
                <a:ea typeface="Georgia"/>
                <a:cs typeface="Georgia"/>
              </a:rPr>
              <a:t>Mark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2ADE40-1CE2-4728-9DA7-CC404BFE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72100"/>
            <a:ext cx="2028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7C85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E7C85"/>
                </a:solidFill>
                <a:latin typeface="Avenir Next"/>
                <a:ea typeface="Avenir Next"/>
                <a:cs typeface="Avenir Next"/>
              </a:rPr>
              <a:t>Which model is closest to Deribit option prices?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A63888-3F5A-48CF-8E0D-C49A46DE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629150"/>
            <a:ext cx="2333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1C0BBA-A1A1-4FB8-9D30-9F6C627A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629150"/>
            <a:ext cx="47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0091DC-E689-4782-917E-D7E4EE23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81550"/>
            <a:ext cx="20288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B8872B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B8872B"/>
                </a:solidFill>
                <a:latin typeface="Avenir Next"/>
                <a:ea typeface="Avenir Next"/>
                <a:cs typeface="Avenir Next"/>
              </a:rPr>
              <a:t>QUESTION 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EA64D8-3D6B-4EEA-AFAF-929104622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91100"/>
            <a:ext cx="20288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2235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0B2235"/>
                </a:solidFill>
                <a:latin typeface="Georgia"/>
                <a:ea typeface="Georgia"/>
                <a:cs typeface="Georgia"/>
              </a:rPr>
              <a:t>Crash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BA2209-B485-4999-822A-A357B4A4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372100"/>
            <a:ext cx="2028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7C85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E7C85"/>
                </a:solidFill>
                <a:latin typeface="Avenir Next"/>
                <a:ea typeface="Avenir Next"/>
                <a:cs typeface="Avenir Next"/>
              </a:rPr>
              <a:t>Which model pays most for downside insurance?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DECD76-BCA0-4340-A7FE-29B51BAF3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629150"/>
            <a:ext cx="2333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12D805-3FCD-43F4-B04F-0B46DF9D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629150"/>
            <a:ext cx="47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5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41D136D-399D-44D4-B33F-22F24471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781550"/>
            <a:ext cx="20288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D45A3A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D45A3A"/>
                </a:solidFill>
                <a:latin typeface="Avenir Next"/>
                <a:ea typeface="Avenir Next"/>
                <a:cs typeface="Avenir Next"/>
              </a:rPr>
              <a:t>QUESTION 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8532086-987A-44E4-8F0C-745F444F8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991100"/>
            <a:ext cx="20288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2235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0B2235"/>
                </a:solidFill>
                <a:latin typeface="Georgia"/>
                <a:ea typeface="Georgia"/>
                <a:cs typeface="Georgia"/>
              </a:rPr>
              <a:t>Hedge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20068BA-75CF-49F7-AEE7-9C1EE8279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372100"/>
            <a:ext cx="2028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7C85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E7C85"/>
                </a:solidFill>
                <a:latin typeface="Avenir Next"/>
                <a:ea typeface="Avenir Next"/>
                <a:cs typeface="Avenir Next"/>
              </a:rPr>
              <a:t>Which model leaves the smallest hedge residual?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8DDD26A-F7D5-4CAE-8423-26142E66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2197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E2C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0E2C8"/>
                </a:solidFill>
                <a:latin typeface="Avenir Next"/>
                <a:ea typeface="Avenir Next"/>
                <a:cs typeface="Avenir Next"/>
              </a:rPr>
              <a:t>Main deck capped at 15 slides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DB61CCA-061F-466C-BECE-0D46A25D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4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A676F48-BA3A-445A-B959-5827E5C41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AFC0C9"/>
                </a:solidFill>
                <a:latin typeface="Avenir Next"/>
                <a:ea typeface="Avenir Next"/>
                <a:cs typeface="Avenir Next"/>
              </a:defRPr>
            </a:pPr>
            <a:r>
              <a:rPr sz="585" b="0">
                <a:solidFill>
                  <a:srgbClr val="AFC0C9"/>
                </a:solidFill>
                <a:latin typeface="Avenir Next"/>
                <a:ea typeface="Avenir Next"/>
                <a:cs typeface="Avenir Next"/>
              </a:rPr>
              <a:t>Project output deck | Course motivation: risk-neutral pricing, BSM, CRR, Greeks, hedging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B733969-0892-4DFE-8636-22C82E3E6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FC0C9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AFC0C9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2073241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A95613-0767-4349-B676-1CAEAC8D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D692C8-2CA1-41FA-BBB3-193D7297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666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872254-A041-4E15-8A6F-F32BAEDA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EMPIRICAL MOTIVATION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F9AE34-6193-42EE-9FCA-26B56EAD8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76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B2235"/>
                </a:solidFill>
                <a:latin typeface="Georgia"/>
                <a:ea typeface="Georgia"/>
                <a:cs typeface="Georgia"/>
              </a:defRPr>
            </a:pPr>
            <a:r>
              <a:rPr sz="2475" b="1">
                <a:solidFill>
                  <a:srgbClr val="0B2235"/>
                </a:solidFill>
                <a:latin typeface="Georgia"/>
                <a:ea typeface="Georgia"/>
                <a:cs typeface="Georgia"/>
              </a:rPr>
              <a:t>The classroom diffusion breaks first in crypto tails and smiles.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E6AFD3-235F-4FF4-8BC2-CF7D7AA6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E7C85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>
                <a:solidFill>
                  <a:srgbClr val="6E7C85"/>
                </a:solidFill>
                <a:latin typeface="Avenir Next"/>
                <a:ea typeface="Avenir Next"/>
                <a:cs typeface="Avenir Next"/>
              </a:rPr>
              <a:t>BSM assumes continuous paths and constant volatility. BTC/ETH data show jumps, heavy tails, and a non-flat implied-volatility smile.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0D64AF-BCCD-4F7F-AF4B-679C88EBD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A82354-CF6A-4EF2-A30A-BA031E544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9800"/>
            <a:ext cx="53340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abe49eefdc4d37"/>
          <a:stretch xmlns:a="http://schemas.openxmlformats.org/drawingml/2006/main"/>
        </p:blipFill>
        <p:spPr>
          <a:xfrm xmlns:a="http://schemas.openxmlformats.org/drawingml/2006/main">
            <a:off x="1092056" y="2362200"/>
            <a:ext cx="4254787" cy="24574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26A3A4-1DC2-4D8E-8F8C-3EC83DF68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149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5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117FCF-CEE8-4E30-81DA-AE857EB2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1409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D45A3A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D45A3A"/>
                </a:solidFill>
                <a:latin typeface="Avenir Next"/>
                <a:ea typeface="Avenir Next"/>
                <a:cs typeface="Avenir Next"/>
              </a:rPr>
              <a:t>TAIL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BF227F-D198-4DCC-AFCD-1E0DC8C34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93395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7C85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6E7C85"/>
                </a:solidFill>
                <a:latin typeface="Avenir Next"/>
                <a:ea typeface="Avenir Next"/>
                <a:cs typeface="Avenir Next"/>
              </a:rPr>
              <a:t>Jump days are visible discontinuities: the exact event BSM cannot generate.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D4D230-8725-4792-B6DE-DECEA787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09800"/>
            <a:ext cx="53340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0c6a600dd940d0"/>
          <a:stretch xmlns:a="http://schemas.openxmlformats.org/drawingml/2006/main"/>
        </p:blipFill>
        <p:spPr>
          <a:xfrm xmlns:a="http://schemas.openxmlformats.org/drawingml/2006/main">
            <a:off x="6496050" y="2668139"/>
            <a:ext cx="4953000" cy="1731272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F81BFE-EDA7-4053-9461-95B8266E3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9149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0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8E91B1-3324-40C3-A4DB-1014B435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010150"/>
            <a:ext cx="1409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SMILE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BE9338-BB90-4D3C-873E-2512EA44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33950"/>
            <a:ext cx="2743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7C85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6E7C85"/>
                </a:solidFill>
                <a:latin typeface="Avenir Next"/>
                <a:ea typeface="Avenir Next"/>
                <a:cs typeface="Avenir Next"/>
              </a:rPr>
              <a:t>Different strikes imply different volatilities: one constant sigma is too rigid.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F06EAE-9A6D-45B7-B06F-536BDEAB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E38451-A7AA-431D-B6FA-B686C9304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62625"/>
            <a:ext cx="10401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2235"/>
                </a:solidFill>
                <a:latin typeface="Georgia"/>
                <a:ea typeface="Georgia"/>
                <a:cs typeface="Georgia"/>
              </a:defRPr>
            </a:pPr>
            <a:r>
              <a:rPr sz="975" b="1">
                <a:solidFill>
                  <a:srgbClr val="0B2235"/>
                </a:solidFill>
                <a:latin typeface="Georgia"/>
                <a:ea typeface="Georgia"/>
                <a:cs typeface="Georgia"/>
              </a:rPr>
              <a:t>Course bridge: BSM is the control case; the project asks what extra state variable or jump mechanism is needed for crypto.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E3BA0E-F6C7-4C03-8D04-4F6890B8D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B6E339-F14B-4335-AA0F-8308E42F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6E7C85"/>
                </a:solidFill>
                <a:latin typeface="Avenir Next"/>
                <a:ea typeface="Avenir Next"/>
                <a:cs typeface="Avenir Next"/>
              </a:defRPr>
            </a:pPr>
            <a:r>
              <a:rPr sz="585" b="0">
                <a:solidFill>
                  <a:srgbClr val="6E7C85"/>
                </a:solidFill>
                <a:latin typeface="Avenir Next"/>
                <a:ea typeface="Avenir Next"/>
                <a:cs typeface="Avenir Next"/>
              </a:rPr>
              <a:t>Sources: Deribit 1-year BTC/ETH index history and live option-chain snapshot from project pipeline; Black and Scholes (1973).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2F8178-3549-4208-AA39-608341C06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E7C85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E7C85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5009867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907F41-8CCF-4825-8311-88170F0B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9FA5BA-5F4E-4F2C-A0AC-D6E835DC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666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BD763D-55C9-466E-8E87-D338522F2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EVALUATION PROTOCOL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BA4164-FCA2-4FE3-A5E8-F6F746820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76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B2235"/>
                </a:solidFill>
                <a:latin typeface="Georgia"/>
                <a:ea typeface="Georgia"/>
                <a:cs typeface="Georgia"/>
              </a:defRPr>
            </a:pPr>
            <a:r>
              <a:rPr sz="2475" b="1">
                <a:solidFill>
                  <a:srgbClr val="0B2235"/>
                </a:solidFill>
                <a:latin typeface="Georgia"/>
                <a:ea typeface="Georgia"/>
                <a:cs typeface="Georgia"/>
              </a:rPr>
              <a:t>We judge models by three desk questions, not by formula elegance.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43CC06-40B1-4195-B4F4-814711743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E7C85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>
                <a:solidFill>
                  <a:srgbClr val="6E7C85"/>
                </a:solidFill>
                <a:latin typeface="Avenir Next"/>
                <a:ea typeface="Avenir Next"/>
                <a:cs typeface="Avenir Next"/>
              </a:rPr>
              <a:t>A model can mark options well, but still underprice crash insurance or hedge poorly when jumps arrive.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864A52-B6B2-4FA2-8DFF-1169E36D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77AA57-E671-41A8-8D8C-C58F79549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050"/>
            <a:ext cx="33337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FA21D7-DF8B-435D-9090-E8330607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38400"/>
            <a:ext cx="2990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MARKING ERROR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99BBC7-C1AB-4B34-82E8-C7CB8439F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05100"/>
            <a:ext cx="2990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2235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0B2235"/>
                </a:solidFill>
                <a:latin typeface="Georgia"/>
                <a:ea typeface="Georgia"/>
                <a:cs typeface="Georgia"/>
              </a:rPr>
              <a:t>e_i^(m) = Vhat_i^(m) - V_i^mkt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2BFCD1-6CBA-478C-9698-239C869D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2990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7C85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E7C85"/>
                </a:solidFill>
                <a:latin typeface="Avenir Next"/>
                <a:ea typeface="Avenir Next"/>
                <a:cs typeface="Avenir Next"/>
              </a:rPr>
              <a:t>Signed error shows whether model m overprices or underprices the observed Deribit option.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DF0595-F3AC-45F8-86FA-16652113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05050"/>
            <a:ext cx="33337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5CE7A6-2D17-4033-807B-F8B39D121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438400"/>
            <a:ext cx="2990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B8872B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B8872B"/>
                </a:solidFill>
                <a:latin typeface="Avenir Next"/>
                <a:ea typeface="Avenir Next"/>
                <a:cs typeface="Avenir Next"/>
              </a:rPr>
              <a:t>ACCURACY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22B658-78E0-48CF-9795-59B748B55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705100"/>
            <a:ext cx="2990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2235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0B2235"/>
                </a:solidFill>
                <a:latin typeface="Georgia"/>
                <a:ea typeface="Georgia"/>
                <a:cs typeface="Georgia"/>
              </a:rPr>
              <a:t>MAE = mean(|e_i|),   RMSE = sqrt(mean(e_i^2))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696359-3E61-4FF4-A73A-82B8D5E5F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181350"/>
            <a:ext cx="2990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7C85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E7C85"/>
                </a:solidFill>
                <a:latin typeface="Avenir Next"/>
                <a:ea typeface="Avenir Next"/>
                <a:cs typeface="Avenir Next"/>
              </a:rPr>
              <a:t>MAE is robust and easy to read; RMSE penalizes large misses more heavily.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B84AA3-D086-45C4-8262-5E85803A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05050"/>
            <a:ext cx="33337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C1B435-B4C4-4C21-9281-7856D001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38400"/>
            <a:ext cx="2990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D45A3A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D45A3A"/>
                </a:solidFill>
                <a:latin typeface="Avenir Next"/>
                <a:ea typeface="Avenir Next"/>
                <a:cs typeface="Avenir Next"/>
              </a:rPr>
              <a:t>IMPROVEMENT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9D3B57-4D7E-4FA8-9299-3E890020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05100"/>
            <a:ext cx="2990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2235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0B2235"/>
                </a:solidFill>
                <a:latin typeface="Georgia"/>
                <a:ea typeface="Georgia"/>
                <a:cs typeface="Georgia"/>
              </a:rPr>
              <a:t>Delta AE_i = |e_i^BS| - |e_i^m|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5BFBA2-4D2E-4367-BB79-12CB63BBF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81350"/>
            <a:ext cx="2990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7C85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E7C85"/>
                </a:solidFill>
                <a:latin typeface="Avenir Next"/>
                <a:ea typeface="Avenir Next"/>
                <a:cs typeface="Avenir Next"/>
              </a:rPr>
              <a:t>Positive values mean the candidate improves on Black-Scholes for that option.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307833-477D-4899-B62E-06689783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171950"/>
            <a:ext cx="838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A064D1-4A80-48F5-9AB9-D125F6E0E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24815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Desk question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96B081-0217-4C93-B804-15F1227BB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24815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Metric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315772-7A08-4EC2-BBF6-1F226A29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424815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Course link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364F89-E074-46BE-8008-BA1475C6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424815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Interpretation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E2E4F6-AAF2-4A8B-ABBA-1D050D1D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533900"/>
            <a:ext cx="838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092168-3F70-41D3-9F27-D11761ACD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61010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690" b="1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Mark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58E1D0-4F47-480F-B085-FDF51AB2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61010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690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MAE / RMSE / bias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F66943-598D-4592-9E14-C308AD2A8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461010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690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pricing and calibration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C94313-E145-439E-A5FE-BCC320DD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461010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690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Can we quote close to market?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E8B666-F8C0-434D-8FD1-51B01B6B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895850"/>
            <a:ext cx="838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FBFBD0-DC20-46C6-8FBD-63E24B2CF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97205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690" b="1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Crash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ECD55A-4E6B-4A7B-96C2-DCC9D627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97205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690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5% OTM put value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A8040B-1624-4CD4-97F3-B950CA27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497205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690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risk-neutral tail payoff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DFF7D1A-1653-4DB9-8525-3CB633ECF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497205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690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How much downside insurance is priced?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729005-720B-4E1B-9B6C-FFE3269F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5257800"/>
            <a:ext cx="838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3603D95-F0D2-40F4-A516-F6C1FB4CD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533400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690" b="1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Hedge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96FC925-3749-4B72-82AF-D4E25CB9C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533400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690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mean absolute P&amp;L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F555CE7-C0CA-4533-810F-80D9FE5CC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533400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690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Delta hedging and Greeks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099C5FF-8AE3-4556-944C-616BA1B8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533400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690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How much residual risk remains?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BDA0934-9F7D-4769-A9F1-15E8E282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5310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5F3B7AF-2617-44F4-BFD9-D2BFBCD63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800725"/>
            <a:ext cx="8972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2235"/>
                </a:solidFill>
                <a:latin typeface="Georgia"/>
                <a:ea typeface="Georgia"/>
                <a:cs typeface="Georgia"/>
              </a:defRPr>
            </a:pPr>
            <a:r>
              <a:rPr sz="975" b="1">
                <a:solidFill>
                  <a:srgbClr val="0B2235"/>
                </a:solidFill>
                <a:latin typeface="Georgia"/>
                <a:ea typeface="Georgia"/>
                <a:cs typeface="Georgia"/>
              </a:rPr>
              <a:t>Plain-English reading: lower MAE is better for marking; higher stressed put value is more conservative for crash protection; lower hedge P&amp;L magnitude is better for hedging.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690C516-4E48-4539-90CC-328C4C5E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BB46381-F826-439C-BED2-1B10685DF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6E7C85"/>
                </a:solidFill>
                <a:latin typeface="Avenir Next"/>
                <a:ea typeface="Avenir Next"/>
                <a:cs typeface="Avenir Next"/>
              </a:defRPr>
            </a:pPr>
            <a:r>
              <a:rPr sz="585" b="0">
                <a:solidFill>
                  <a:srgbClr val="6E7C85"/>
                </a:solidFill>
                <a:latin typeface="Avenir Next"/>
                <a:ea typeface="Avenir Next"/>
                <a:cs typeface="Avenir Next"/>
              </a:rPr>
              <a:t>Sources: project report metrics and generated candidate comparison tables.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ED05ED9-3642-4D3D-AD8F-83072C920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E7C85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E7C85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1578872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FBC6E9-B536-4515-8F48-080CF6BD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84CADF-F7C3-470A-9FB0-671B3D93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666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0EC0E7-90C0-4B55-ADF3-CDE1C98F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BASELINE CONTROLS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881031-54BE-49F7-8D7F-56FB86E41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76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B2235"/>
                </a:solidFill>
                <a:latin typeface="Georgia"/>
                <a:ea typeface="Georgia"/>
                <a:cs typeface="Georgia"/>
              </a:defRPr>
            </a:pPr>
            <a:r>
              <a:rPr sz="2475" b="1">
                <a:solidFill>
                  <a:srgbClr val="0B2235"/>
                </a:solidFill>
                <a:latin typeface="Georgia"/>
                <a:ea typeface="Georgia"/>
                <a:cs typeface="Georgia"/>
              </a:rPr>
              <a:t>BSM and CRR anchor no-arbitrage logic before we add crypto risk channels.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214F18-E722-4F5E-B05F-0100E4047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E7C85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>
                <a:solidFill>
                  <a:srgbClr val="6E7C85"/>
                </a:solidFill>
                <a:latin typeface="Avenir Next"/>
                <a:ea typeface="Avenir Next"/>
                <a:cs typeface="Avenir Next"/>
              </a:rPr>
              <a:t>The baselines are not weak strawmen. They are the course-consistent controls that every extension must beat.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955758-F0E5-4C92-BFBB-A544ACE10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5A8419-48AD-4673-8376-0FAFF626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44767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297F82-3CE0-4C95-B895-1D4F3860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413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BLACK-SCHOLES-MERTON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E2873A-12CB-45F4-A8D4-20B54D09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4133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2235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0B2235"/>
                </a:solidFill>
                <a:latin typeface="Georgia"/>
                <a:ea typeface="Georgia"/>
                <a:cs typeface="Georgia"/>
              </a:rPr>
              <a:t>C = S N(d1) - K exp(-rT) N(d2)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CE57AB-667A-46D3-9E16-BE8D0FD0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4133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7C85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E7C85"/>
                </a:solidFill>
                <a:latin typeface="Avenir Next"/>
                <a:ea typeface="Avenir Next"/>
                <a:cs typeface="Avenir Next"/>
              </a:rPr>
              <a:t>Continuous diffusion, lognormal terminal price, constant volatility, and dynamic Delta hedging.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ECD1E2-2D88-49EF-B120-DE37F2D3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86200"/>
            <a:ext cx="44767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CAD585-6C8B-400C-BFDC-B9588B7D1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413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B8872B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B8872B"/>
                </a:solidFill>
                <a:latin typeface="Avenir Next"/>
                <a:ea typeface="Avenir Next"/>
                <a:cs typeface="Avenir Next"/>
              </a:rPr>
              <a:t>CRR BINOMIAL TREE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A9926A-8D0B-472D-8EF0-1339AEF4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4133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2235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0B2235"/>
                </a:solidFill>
                <a:latin typeface="Georgia"/>
                <a:ea typeface="Georgia"/>
                <a:cs typeface="Georgia"/>
              </a:rPr>
              <a:t>V = exp(-r dt) [p V_u + (1-p) V_d]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65C2A0-56E7-4E3E-8BEC-5147B6D62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4133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7C85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E7C85"/>
                </a:solidFill>
                <a:latin typeface="Avenir Next"/>
                <a:ea typeface="Avenir Next"/>
                <a:cs typeface="Avenir Next"/>
              </a:rPr>
              <a:t>Discrete risk-neutral replication. As the tree becomes fine, the European price converges toward BSM.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CA24B1-D970-41E4-9022-A732E496D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266950"/>
            <a:ext cx="6067425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1c59ffbf3c44b1"/>
          <a:stretch xmlns:a="http://schemas.openxmlformats.org/drawingml/2006/main"/>
        </p:blipFill>
        <p:spPr>
          <a:xfrm xmlns:a="http://schemas.openxmlformats.org/drawingml/2006/main">
            <a:off x="6460145" y="2428875"/>
            <a:ext cx="4319959" cy="23622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003721-C3B8-4E70-BA64-1E91363F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29175"/>
            <a:ext cx="519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7C85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6E7C85"/>
                </a:solidFill>
                <a:latin typeface="Avenir Next"/>
                <a:ea typeface="Avenir Next"/>
                <a:cs typeface="Avenir Next"/>
              </a:rPr>
              <a:t>The convergence plot is a sanity check: our numerical tree is aligned with the closed-form benchmark before we compare richer crypto models.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875294-A22B-4588-9287-7D35DB59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5785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ED17D3-F136-4B8F-A80E-51E44EF8C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05475"/>
            <a:ext cx="9829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2235"/>
                </a:solidFill>
                <a:latin typeface="Georgia"/>
                <a:ea typeface="Georgia"/>
                <a:cs typeface="Georgia"/>
              </a:defRPr>
            </a:pPr>
            <a:r>
              <a:rPr sz="975" b="1">
                <a:solidFill>
                  <a:srgbClr val="0B2235"/>
                </a:solidFill>
                <a:latin typeface="Georgia"/>
                <a:ea typeface="Georgia"/>
                <a:cs typeface="Georgia"/>
              </a:rPr>
              <a:t>Course extension: after the no-arbitrage benchmark is verified, deviations are interpreted as distributional model risk, not implementation noise.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E733A7-C1E3-4F9A-B72C-9002D691F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51F3ED-D697-4691-8C13-B7CE90A65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6E7C85"/>
                </a:solidFill>
                <a:latin typeface="Avenir Next"/>
                <a:ea typeface="Avenir Next"/>
                <a:cs typeface="Avenir Next"/>
              </a:defRPr>
            </a:pPr>
            <a:r>
              <a:rPr sz="585" b="0">
                <a:solidFill>
                  <a:srgbClr val="6E7C85"/>
                </a:solidFill>
                <a:latin typeface="Avenir Next"/>
                <a:ea typeface="Avenir Next"/>
                <a:cs typeface="Avenir Next"/>
              </a:rPr>
              <a:t>Sources: Cox, Ross, and Rubinstein (1979); Black and Scholes (1973); project CRR convergence test.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11A386-059B-49FA-B28F-DAABBB3F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E7C85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E7C85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5763063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A7F6BE-53D5-4C0E-A568-1F0E6064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829A78-3BDA-43FE-BD28-47864FD45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666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64F5D8-0ADD-4832-9917-24EA6E12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MODEL STACK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94CA8C-474A-4C78-AEDB-82E00BCC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76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B2235"/>
                </a:solidFill>
                <a:latin typeface="Georgia"/>
                <a:ea typeface="Georgia"/>
                <a:cs typeface="Georgia"/>
              </a:defRPr>
            </a:pPr>
            <a:r>
              <a:rPr sz="2475" b="1">
                <a:solidFill>
                  <a:srgbClr val="0B2235"/>
                </a:solidFill>
                <a:latin typeface="Georgia"/>
                <a:ea typeface="Georgia"/>
                <a:cs typeface="Georgia"/>
              </a:rPr>
              <a:t>Each candidate repairs a different missing crypto risk channel.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6D166C-5C94-4D5C-8F50-57F505C6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E7C85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>
                <a:solidFill>
                  <a:srgbClr val="6E7C85"/>
                </a:solidFill>
                <a:latin typeface="Avenir Next"/>
                <a:ea typeface="Avenir Next"/>
                <a:cs typeface="Avenir Next"/>
              </a:rPr>
              <a:t>The comparison is deliberately multi-objective: pricing, stress, Greeks, and hedge performance can choose different winners.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F3C4B1-6FFC-41DB-8CA4-33E884DF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4CF09A-E248-4989-95B2-9440ADE59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3429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E8D422-4C1D-4D67-809D-3C1DDFE8F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342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1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DF82CE-BBAF-401E-B53C-6438614F2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19350"/>
            <a:ext cx="3124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AA1A6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9AA1A6"/>
                </a:solidFill>
                <a:latin typeface="Avenir Next"/>
                <a:ea typeface="Avenir Next"/>
                <a:cs typeface="Avenir Next"/>
              </a:rPr>
              <a:t>Black-Scholes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146917-E49F-4C2B-BBD4-C6F7A8F5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76525"/>
            <a:ext cx="3124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Smooth diffusion baseline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FB8C42-8464-4F02-9386-95269A9C5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3124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E7C85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6E7C85"/>
                </a:solidFill>
                <a:latin typeface="Avenir Next"/>
                <a:ea typeface="Avenir Next"/>
                <a:cs typeface="Avenir Next"/>
              </a:rPr>
              <a:t>Best for course intuition and put-call logic, but too rigid for jumps and smiles.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4BE660-5DBC-42CF-9186-650E84BD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66950"/>
            <a:ext cx="3429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2D0688-7869-45B7-9FF0-7D52D684A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66950"/>
            <a:ext cx="342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750094-2253-4186-89A4-FE685D80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19350"/>
            <a:ext cx="3124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Merton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3D054F-921C-4F17-AD4A-1E9BAA3F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76525"/>
            <a:ext cx="3124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Random price jumps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C6BDAB-90CC-4D1B-AC44-6CCB4862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952750"/>
            <a:ext cx="3124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E7C85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6E7C85"/>
                </a:solidFill>
                <a:latin typeface="Avenir Next"/>
                <a:ea typeface="Avenir Next"/>
                <a:cs typeface="Avenir Next"/>
              </a:rPr>
              <a:t>Adds crash arrivals to BSM and creates explicit tail-risk compensation.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76E41E-A8E2-4F9B-8061-04EF6BE27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66950"/>
            <a:ext cx="3429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8EA730-AED7-473E-8154-E95B315F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66950"/>
            <a:ext cx="342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5BC706-4D83-41D5-A8FA-62430C3F1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19350"/>
            <a:ext cx="3124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872B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B8872B"/>
                </a:solidFill>
                <a:latin typeface="Avenir Next"/>
                <a:ea typeface="Avenir Next"/>
                <a:cs typeface="Avenir Next"/>
              </a:rPr>
              <a:t>SVCJ proxy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E0D459-2519-4BEF-803F-C98B025C7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76525"/>
            <a:ext cx="3124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Spot-volatility co-jumps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F90B7B-6D47-4016-8208-58D9DE8EB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52750"/>
            <a:ext cx="3124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E7C85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6E7C85"/>
                </a:solidFill>
                <a:latin typeface="Avenir Next"/>
                <a:ea typeface="Avenir Next"/>
                <a:cs typeface="Avenir Next"/>
              </a:rPr>
              <a:t>Treats crashes as joint events: price falls while volatility jumps upward.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89A1EE-CB85-4745-AE20-3CC14BDC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71900"/>
            <a:ext cx="3429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9DEEAB-DD75-4FCD-A2E5-63F847DC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71900"/>
            <a:ext cx="342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559918-CC4E-485E-B4C8-83323D8B0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24300"/>
            <a:ext cx="3124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MR-ISVM surface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5D30DF-F3E8-41B6-B6E0-0F209896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81475"/>
            <a:ext cx="3124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Regime-aware IV surface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CC09D7-4072-4FE0-8C1E-37C07D062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57700"/>
            <a:ext cx="3124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E7C85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6E7C85"/>
                </a:solidFill>
                <a:latin typeface="Avenir Next"/>
                <a:ea typeface="Avenir Next"/>
                <a:cs typeface="Avenir Next"/>
              </a:rPr>
              <a:t>Lets the market smile itself change by calm, trend, or stress regime.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D3EB52-DEE3-4FBA-BB93-30E60B34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71900"/>
            <a:ext cx="3429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E13186-D0EB-49F5-884E-017D3BE2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71900"/>
            <a:ext cx="342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5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AD83CA-C84E-4EA2-A50B-0FE509EB0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924300"/>
            <a:ext cx="3124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45A3A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D45A3A"/>
                </a:solidFill>
                <a:latin typeface="Avenir Next"/>
                <a:ea typeface="Avenir Next"/>
                <a:cs typeface="Avenir Next"/>
              </a:rPr>
              <a:t>Dynamic jump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CD3465-E275-4A0D-B471-4291DC8F9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181475"/>
            <a:ext cx="3124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Clustered jump intensity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300CBC-3D6A-4F6A-AED5-62E8DB192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57700"/>
            <a:ext cx="3124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E7C85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6E7C85"/>
                </a:solidFill>
                <a:latin typeface="Avenir Next"/>
                <a:ea typeface="Avenir Next"/>
                <a:cs typeface="Avenir Next"/>
              </a:rPr>
              <a:t>Lets jump risk arrive in waves instead of using one static lambda.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BED2CA-69CB-4D8E-90A4-AF45ECF3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71900"/>
            <a:ext cx="3429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EF5F89-3E92-4181-8078-F093FBB2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71900"/>
            <a:ext cx="342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7C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234B15-BD20-4E53-A736-E3931BFE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924300"/>
            <a:ext cx="3124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7C62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5B7C62"/>
                </a:solidFill>
                <a:latin typeface="Avenir Next"/>
                <a:ea typeface="Avenir Next"/>
                <a:cs typeface="Avenir Next"/>
              </a:rPr>
              <a:t>GARCH variance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FBF483-A54B-4E09-9DD7-DA0FF658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181475"/>
            <a:ext cx="3124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Volatility persistence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E7AE355-C909-41E3-BB1D-186387FA0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57700"/>
            <a:ext cx="3124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E7C85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6E7C85"/>
                </a:solidFill>
                <a:latin typeface="Avenir Next"/>
                <a:ea typeface="Avenir Next"/>
                <a:cs typeface="Avenir Next"/>
              </a:rPr>
              <a:t>Explains smiles through clustered volatility rather than explicit price jumps.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19425F4-A8F4-417D-AB72-D9604B1C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95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1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F91177C-F485-4156-A0BE-E20296FD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578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E7C85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6E7C85"/>
                </a:solidFill>
                <a:latin typeface="Avenir Next"/>
                <a:ea typeface="Avenir Next"/>
                <a:cs typeface="Avenir Next"/>
              </a:rPr>
              <a:t>Black-Scholes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5DCA03A-EF7C-438F-80B6-EED4B54B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295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F289F82-49EF-4E88-9313-51C597279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2578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E7C85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6E7C85"/>
                </a:solidFill>
                <a:latin typeface="Avenir Next"/>
                <a:ea typeface="Avenir Next"/>
                <a:cs typeface="Avenir Next"/>
              </a:rPr>
              <a:t>Merton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5ECD784-77E3-4F92-8360-F277456D5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295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25B625A-9D4A-41B8-AFC5-9D900028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2578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E7C85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6E7C85"/>
                </a:solidFill>
                <a:latin typeface="Avenir Next"/>
                <a:ea typeface="Avenir Next"/>
                <a:cs typeface="Avenir Next"/>
              </a:rPr>
              <a:t>SVCJ proxy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6C5E5F9-82A7-4FA5-A43D-9A1E06AE6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677EB0F-55F8-476D-B7ED-93A688AB5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E7C85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6E7C85"/>
                </a:solidFill>
                <a:latin typeface="Avenir Next"/>
                <a:ea typeface="Avenir Next"/>
                <a:cs typeface="Avenir Next"/>
              </a:rPr>
              <a:t>MR-ISVM surface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17C3E2D-620B-48DD-9D56-A0BB5972A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5245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5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F386C64-5C0C-4E8C-A65D-8B830D02A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4864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E7C85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6E7C85"/>
                </a:solidFill>
                <a:latin typeface="Avenir Next"/>
                <a:ea typeface="Avenir Next"/>
                <a:cs typeface="Avenir Next"/>
              </a:rPr>
              <a:t>Dynamic jump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80E15CB-92B1-4253-A29B-6661F00C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5245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7C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C505B2E-FE2B-40F3-8454-FEE405AD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4864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E7C85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6E7C85"/>
                </a:solidFill>
                <a:latin typeface="Avenir Next"/>
                <a:ea typeface="Avenir Next"/>
                <a:cs typeface="Avenir Next"/>
              </a:rPr>
              <a:t>GARCH variance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6BAEFBC-AE56-408A-9347-AD3CCBB35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3400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7D75B34-F7D3-4CD7-BA80-5855FA486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381625"/>
            <a:ext cx="4591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2235"/>
                </a:solidFill>
                <a:latin typeface="Georgia"/>
                <a:ea typeface="Georgia"/>
                <a:cs typeface="Georgia"/>
              </a:defRPr>
            </a:pPr>
            <a:r>
              <a:rPr sz="975" b="1">
                <a:solidFill>
                  <a:srgbClr val="0B2235"/>
                </a:solidFill>
                <a:latin typeface="Georgia"/>
                <a:ea typeface="Georgia"/>
                <a:cs typeface="Georgia"/>
              </a:rPr>
              <a:t>Key framing: Merton is a classical benchmark from 1976; the innovation is the full candidate comparison and desk-level model-stack recommendation.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E1E12F1-F9EE-4E6E-802A-0B0BDBFCB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D96D35A-3F3D-48F8-BE5F-BC1B19EA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6E7C85"/>
                </a:solidFill>
                <a:latin typeface="Avenir Next"/>
                <a:ea typeface="Avenir Next"/>
                <a:cs typeface="Avenir Next"/>
              </a:defRPr>
            </a:pPr>
            <a:r>
              <a:rPr sz="585" b="0">
                <a:solidFill>
                  <a:srgbClr val="6E7C85"/>
                </a:solidFill>
                <a:latin typeface="Avenir Next"/>
                <a:ea typeface="Avenir Next"/>
                <a:cs typeface="Avenir Next"/>
              </a:rPr>
              <a:t>Sources: Merton (1976); Bates (1996); Venter and Mare (2021); Saef et al. (2022); Chen and Yang (2024).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C7D3A8D-91D3-4DF9-A412-810752BD2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E7C85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E7C85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3135334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857E19-2585-4CD2-BA92-5EC25AEAE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9D1C9F-9D29-4403-87BA-902B96A3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666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84B49D-D1EE-4C54-8968-25BC53DF7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MERTON BENCHMARK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63E46E-15E7-46FC-BAD9-CC2B8975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76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B2235"/>
                </a:solidFill>
                <a:latin typeface="Georgia"/>
                <a:ea typeface="Georgia"/>
                <a:cs typeface="Georgia"/>
              </a:defRPr>
            </a:pPr>
            <a:r>
              <a:rPr sz="2475" b="1">
                <a:solidFill>
                  <a:srgbClr val="0B2235"/>
                </a:solidFill>
                <a:latin typeface="Georgia"/>
                <a:ea typeface="Georgia"/>
                <a:cs typeface="Georgia"/>
              </a:rPr>
              <a:t>Merton is the first repair: random jumps make tail risk explicit.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60C9E2-0E2F-45D3-B166-3BCFF8B47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E7C85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>
                <a:solidFill>
                  <a:srgbClr val="6E7C85"/>
                </a:solidFill>
                <a:latin typeface="Avenir Next"/>
                <a:ea typeface="Avenir Next"/>
                <a:cs typeface="Avenir Next"/>
              </a:rPr>
              <a:t>For crypto, this is the natural bridge from course BSM to heavy-tailed option pricing.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5E94AE-30B5-475F-99E4-7AF2B6BFA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08925E-9C2B-430B-B334-E80EC73B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49530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566D56-AA85-4C0D-B96C-699074A2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93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RISK-NEUTRAL 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C5EAA0-F5D8-428A-A39F-B251E8FE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4610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2235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0B2235"/>
                </a:solidFill>
                <a:latin typeface="Georgia"/>
                <a:ea typeface="Georgia"/>
                <a:cs typeface="Georgia"/>
              </a:rPr>
              <a:t>dS/S- = (r - lambda*kappa)dt + sigma dW + (J - 1)dN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99A91C-B178-4789-ACA8-8B5D2CA0E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46101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7C85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E7C85"/>
                </a:solidFill>
                <a:latin typeface="Avenir Next"/>
                <a:ea typeface="Avenir Next"/>
                <a:cs typeface="Avenir Next"/>
              </a:rPr>
              <a:t>The drift is adjusted by lambda*kappa so prices remain risk-neutral after adding jumps.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66D0B8-3B35-43F3-8118-C2F7671C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0"/>
            <a:ext cx="49530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091A82-B8B7-4508-92BF-23897D88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338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B8872B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B8872B"/>
                </a:solidFill>
                <a:latin typeface="Avenir Next"/>
                <a:ea typeface="Avenir Next"/>
                <a:cs typeface="Avenir Next"/>
              </a:rPr>
              <a:t>JUMP SIZE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A5DBED-E03E-4505-8171-667D3342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4610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2235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0B2235"/>
                </a:solidFill>
                <a:latin typeface="Georgia"/>
                <a:ea typeface="Georgia"/>
                <a:cs typeface="Georgia"/>
              </a:rPr>
              <a:t>log J ~ Normal(mu_J, delta_J^2)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D33B64-B7FF-4AC6-9CB7-3EB8182F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46101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7C85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E7C85"/>
                </a:solidFill>
                <a:latin typeface="Avenir Next"/>
                <a:ea typeface="Avenir Next"/>
                <a:cs typeface="Avenir Next"/>
              </a:rPr>
              <a:t>Jump sizes are random and lognormal. The model averages prices over possible jump counts.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5106BA-9946-402D-BD27-A881C375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286000"/>
            <a:ext cx="5000625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6EAD01-9BDB-49C3-AF71-D1792660F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52700"/>
            <a:ext cx="390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235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0B2235"/>
                </a:solidFill>
                <a:latin typeface="Georgia"/>
                <a:ea typeface="Georgia"/>
                <a:cs typeface="Georgia"/>
              </a:rPr>
              <a:t>Poisson-mixture pricing intuition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37E7E1-7F9E-4E3E-BEFF-D8DC8BC69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861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83CC42-4BCD-4E6F-9B48-CB07FB570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52775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FD7870-21D2-404C-9E1E-A3C196928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24200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Condition on n jumps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B3BA8E-FAC8-487F-BBEF-F32FC9E5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495675"/>
            <a:ext cx="1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E35CB8-80E4-404E-A882-5D34CBD0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719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2FC200-29C6-4D2D-9D57-68AA0FE5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38575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977B38-7FAD-403F-AD90-1C5C8B0E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810000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Price with adjusted variance and drift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87C8AA-FD2E-4B09-8FAB-9EB70786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181475"/>
            <a:ext cx="1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CECD2F-FC91-4EB1-87B6-75488638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577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6A054F-FF63-4AAD-8FBA-F0C07A095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24375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7E7E74-7D39-448E-A7CB-03D1A213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95800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Average across Poisson probabilities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753505-B9AB-4970-95C0-0DEE5CFC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72050"/>
            <a:ext cx="3857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7C85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6E7C85"/>
                </a:solidFill>
                <a:latin typeface="Avenir Next"/>
                <a:ea typeface="Avenir Next"/>
                <a:cs typeface="Avenir Next"/>
              </a:rPr>
              <a:t>Merton improves tail realism, but still assumes constant jump intensity and independent jumps. That is why we test newer candidates beside it.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7C4517-A23F-4E70-99D5-213715AE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3405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9CDE07-ECE4-43B2-9971-9207D16E0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81675"/>
            <a:ext cx="9829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2235"/>
                </a:solidFill>
                <a:latin typeface="Georgia"/>
                <a:ea typeface="Georgia"/>
                <a:cs typeface="Georgia"/>
              </a:defRPr>
            </a:pPr>
            <a:r>
              <a:rPr sz="975" b="1">
                <a:solidFill>
                  <a:srgbClr val="0B2235"/>
                </a:solidFill>
                <a:latin typeface="Georgia"/>
                <a:ea typeface="Georgia"/>
                <a:cs typeface="Georgia"/>
              </a:rPr>
              <a:t>Comparison thread: Merton should beat BSM on crypto tails, but it may lose to regime or volatility-clustering models in marking and hedging.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861BE5-C1E3-4306-86C8-1B8FB3BA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5C76D1-0DD8-4369-838A-9D31723E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6E7C85"/>
                </a:solidFill>
                <a:latin typeface="Avenir Next"/>
                <a:ea typeface="Avenir Next"/>
                <a:cs typeface="Avenir Next"/>
              </a:defRPr>
            </a:pPr>
            <a:r>
              <a:rPr sz="585" b="0">
                <a:solidFill>
                  <a:srgbClr val="6E7C85"/>
                </a:solidFill>
                <a:latin typeface="Avenir Next"/>
                <a:ea typeface="Avenir Next"/>
                <a:cs typeface="Avenir Next"/>
              </a:rPr>
              <a:t>Sources: Merton (1976); project Merton jump-diffusion implementation and calibration.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9D2230C-176B-44B5-B19A-DA977549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E7C85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E7C85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0675955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CC3455-F98B-42D5-BA9C-66FFF6857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3262A8-EC41-4800-AEF4-C9AE12A39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666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B03A5F-5143-4F06-9A10-0E85AA2B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MODERN CANDIDATES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75DA7B-2839-43A2-B367-CEF667D3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76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B2235"/>
                </a:solidFill>
                <a:latin typeface="Georgia"/>
                <a:ea typeface="Georgia"/>
                <a:cs typeface="Georgia"/>
              </a:defRPr>
            </a:pPr>
            <a:r>
              <a:rPr sz="2475" b="1">
                <a:solidFill>
                  <a:srgbClr val="0B2235"/>
                </a:solidFill>
                <a:latin typeface="Georgia"/>
                <a:ea typeface="Georgia"/>
                <a:cs typeface="Georgia"/>
              </a:rPr>
              <a:t>Modern candidates test four explanations for the crypto smile.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11E0E7-7A2E-4EB3-9760-FF6E2830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E7C85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>
                <a:solidFill>
                  <a:srgbClr val="6E7C85"/>
                </a:solidFill>
                <a:latin typeface="Avenir Next"/>
                <a:ea typeface="Avenir Next"/>
                <a:cs typeface="Avenir Next"/>
              </a:rPr>
              <a:t>Merton becomes one reference model inside a broader candidate tournament.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2A0967-C636-4BCE-9C85-2BBD43676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60CD2D-F102-4BB8-AAC2-39B8A1E0B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2571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86A1B7-CFE7-4B47-8EEF-409D58FE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2571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AA175B-8A08-4D58-9EFA-31DBDDC2C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33650"/>
            <a:ext cx="2266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872B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B8872B"/>
                </a:solidFill>
                <a:latin typeface="Avenir Next"/>
                <a:ea typeface="Avenir Next"/>
                <a:cs typeface="Avenir Next"/>
              </a:rPr>
              <a:t>SVCJ proxy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CB208B-5E49-47C6-B987-4D0AC012F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90825"/>
            <a:ext cx="2266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Stochastic volatility with correlated jumps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3256F3-7D45-43E6-ACC5-FCA485D52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67050"/>
            <a:ext cx="2266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E7C8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E7C85"/>
                </a:solidFill>
                <a:latin typeface="Avenir Next"/>
                <a:ea typeface="Avenir Next"/>
                <a:cs typeface="Avenir Next"/>
              </a:rPr>
              <a:t>Plain English: a crypto crash often arrives with a volatility spike. SVCJ prices that joint event.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03CA72-1B85-4887-B783-CC81DFC73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0"/>
            <a:ext cx="2266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0B2235"/>
                </a:solidFill>
                <a:latin typeface="Georgia"/>
                <a:ea typeface="Georgia"/>
                <a:cs typeface="Georgia"/>
              </a:defRPr>
            </a:pPr>
            <a:r>
              <a:rPr sz="690" b="0">
                <a:solidFill>
                  <a:srgbClr val="0B2235"/>
                </a:solidFill>
                <a:latin typeface="Georgia"/>
                <a:ea typeface="Georgia"/>
                <a:cs typeface="Georgia"/>
              </a:rPr>
              <a:t>dS jump + dv jump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9D0A03-BA50-41A8-A71E-007A7F35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381250"/>
            <a:ext cx="2571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68EA42-78F7-4FA4-8D07-C91101F8C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381250"/>
            <a:ext cx="2571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34D78B-E622-4591-842E-93FA6DFF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533650"/>
            <a:ext cx="2266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MR-ISVM surface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CC02B9-5A50-48F5-BCD1-A529A0221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790825"/>
            <a:ext cx="2266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Market-regime implied stochastic volatility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822F32-CAF1-4280-BE15-4F30C335B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067050"/>
            <a:ext cx="2266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E7C8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E7C85"/>
                </a:solidFill>
                <a:latin typeface="Avenir Next"/>
                <a:ea typeface="Avenir Next"/>
                <a:cs typeface="Avenir Next"/>
              </a:rPr>
              <a:t>Plain English: the option smile changes across calm and stress regimes, so implied vol is regime-aware.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BFB11D-717A-44BB-8ED4-097245261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286250"/>
            <a:ext cx="2266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0B2235"/>
                </a:solidFill>
                <a:latin typeface="Georgia"/>
                <a:ea typeface="Georgia"/>
                <a:cs typeface="Georgia"/>
              </a:defRPr>
            </a:pPr>
            <a:r>
              <a:rPr sz="690" b="0">
                <a:solidFill>
                  <a:srgbClr val="0B2235"/>
                </a:solidFill>
                <a:latin typeface="Georgia"/>
                <a:ea typeface="Georgia"/>
                <a:cs typeface="Georgia"/>
              </a:rPr>
              <a:t>sigma_IV = f_regime(K,T)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5BA07A-5275-4B31-B099-93D87F1C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81250"/>
            <a:ext cx="2571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B04DC5-5B68-4C52-B161-D2AEABD7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81250"/>
            <a:ext cx="2571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5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28DCB3-00ED-4505-86F3-D3B90B603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33650"/>
            <a:ext cx="2266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45A3A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D45A3A"/>
                </a:solidFill>
                <a:latin typeface="Avenir Next"/>
                <a:ea typeface="Avenir Next"/>
                <a:cs typeface="Avenir Next"/>
              </a:rPr>
              <a:t>Dynamic jump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84325D-E3FB-4EBD-9051-3C1731E9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90825"/>
            <a:ext cx="2266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Time-varying jump intensity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41B2DA-9109-4B41-A2FB-7D5BCA1FC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67050"/>
            <a:ext cx="2266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E7C8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E7C85"/>
                </a:solidFill>
                <a:latin typeface="Avenir Next"/>
                <a:ea typeface="Avenir Next"/>
                <a:cs typeface="Avenir Next"/>
              </a:rPr>
              <a:t>Plain English: jump risk is not constant. Stress periods make the next jump more likely.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D94203-E1E0-4982-8FF6-181187315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86250"/>
            <a:ext cx="2266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0B2235"/>
                </a:solidFill>
                <a:latin typeface="Georgia"/>
                <a:ea typeface="Georgia"/>
                <a:cs typeface="Georgia"/>
              </a:defRPr>
            </a:pPr>
            <a:r>
              <a:rPr sz="690" b="0">
                <a:solidFill>
                  <a:srgbClr val="0B2235"/>
                </a:solidFill>
                <a:latin typeface="Georgia"/>
                <a:ea typeface="Georgia"/>
                <a:cs typeface="Georgia"/>
              </a:rPr>
              <a:t>lambda_t mean-reverts and jumps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B6DBF1-35A6-4368-BDF1-491F6FAA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381250"/>
            <a:ext cx="2571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AF4664-6A07-4E8C-9673-5B5A0F8F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381250"/>
            <a:ext cx="2571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7C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5A595E-EA54-436E-9BE5-190D887B9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533650"/>
            <a:ext cx="2266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7C62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5B7C62"/>
                </a:solidFill>
                <a:latin typeface="Avenir Next"/>
                <a:ea typeface="Avenir Next"/>
                <a:cs typeface="Avenir Next"/>
              </a:rPr>
              <a:t>GARCH variance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F39489-F861-4094-87B9-BC7077C0D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790825"/>
            <a:ext cx="2266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Generalized autoregressive conditional heteroskedasticity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429783-BD59-4991-BD28-F07118D9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067050"/>
            <a:ext cx="2266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E7C8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E7C85"/>
                </a:solidFill>
                <a:latin typeface="Avenir Next"/>
                <a:ea typeface="Avenir Next"/>
                <a:cs typeface="Avenir Next"/>
              </a:rPr>
              <a:t>Plain English: large returns increase future variance, so volatility has memory.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4D4E1E-FE3D-49C1-BEEE-BC2AF5C6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286250"/>
            <a:ext cx="2266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0B2235"/>
                </a:solidFill>
                <a:latin typeface="Georgia"/>
                <a:ea typeface="Georgia"/>
                <a:cs typeface="Georgia"/>
              </a:defRPr>
            </a:pPr>
            <a:r>
              <a:rPr sz="690" b="0">
                <a:solidFill>
                  <a:srgbClr val="0B2235"/>
                </a:solidFill>
                <a:latin typeface="Georgia"/>
                <a:ea typeface="Georgia"/>
                <a:cs typeface="Georgia"/>
              </a:rPr>
              <a:t>h_{t+1}=omega+alpha r_t^2+beta h_t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AC4023-A069-4104-B455-E55D29F8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5780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3E58C4-FFBD-4B90-A902-BCF0CC1F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05425"/>
            <a:ext cx="9925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2235"/>
                </a:solidFill>
                <a:latin typeface="Georgia"/>
                <a:ea typeface="Georgia"/>
                <a:cs typeface="Georgia"/>
              </a:defRPr>
            </a:pPr>
            <a:r>
              <a:rPr sz="975" b="1">
                <a:solidFill>
                  <a:srgbClr val="0B2235"/>
                </a:solidFill>
                <a:latin typeface="Georgia"/>
                <a:ea typeface="Georgia"/>
                <a:cs typeface="Georgia"/>
              </a:rPr>
              <a:t>Non-expert shortcut: SVCJ prices crash plus panic, MR-ISVM listens to the option surface, Dynamic Jump lets risk cluster, and GARCH remembers recent volatility shocks.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2652A8-2B25-44DA-9194-053264BA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22FF3E-FE85-454B-BC80-7F1E3D2B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6E7C85"/>
                </a:solidFill>
                <a:latin typeface="Avenir Next"/>
                <a:ea typeface="Avenir Next"/>
                <a:cs typeface="Avenir Next"/>
              </a:defRPr>
            </a:pPr>
            <a:r>
              <a:rPr sz="585" b="0">
                <a:solidFill>
                  <a:srgbClr val="6E7C85"/>
                </a:solidFill>
                <a:latin typeface="Avenir Next"/>
                <a:ea typeface="Avenir Next"/>
                <a:cs typeface="Avenir Next"/>
              </a:rPr>
              <a:t>Sources: Bates (1996); Venter and Mare (2021); Saef et al. (2022); Chen and Yang (2024); project candidate_models.py.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1C6EEB-15E8-47AE-BB54-2C9C4F4B9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E7C85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E7C85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4727539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E937D8-8601-4AB9-99A2-1A86C565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EBFC91-598F-4E3E-B27F-8904A545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666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002386-2AE4-4DF8-B9BA-13F4320EA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PRICING ACCURACY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706BFF-C01E-42C0-B3CA-F75F3554F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76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B2235"/>
                </a:solidFill>
                <a:latin typeface="Georgia"/>
                <a:ea typeface="Georgia"/>
                <a:cs typeface="Georgia"/>
              </a:defRPr>
            </a:pPr>
            <a:r>
              <a:rPr sz="2475" b="1">
                <a:solidFill>
                  <a:srgbClr val="0B2235"/>
                </a:solidFill>
                <a:latin typeface="Georgia"/>
                <a:ea typeface="Georgia"/>
                <a:cs typeface="Georgia"/>
              </a:rPr>
              <a:t>Pricing accuracy has two winners: Merton for BTC, MR-ISVM for ETH.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681429-B0FF-49FC-AB8D-8C0AB539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E7C85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>
                <a:solidFill>
                  <a:srgbClr val="6E7C85"/>
                </a:solidFill>
                <a:latin typeface="Avenir Next"/>
                <a:ea typeface="Avenir Next"/>
                <a:cs typeface="Avenir Next"/>
              </a:rPr>
              <a:t>The same model does not dominate both underlyings, which is already a model-risk result.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242B6C-CF90-4471-A11D-15CA35D4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86DDEB-2A48-44DD-8C50-A8E504AF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5000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BTC MAE, USD lower is better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2B07C8-FB6C-4F96-99AF-12FB6EA09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0"/>
            <a:ext cx="5076825" cy="3635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0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413E6D-6D02-4A5E-9611-5795EF89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43200"/>
            <a:ext cx="1381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Merton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048A79-B569-4FA3-9C57-0D071B58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762250"/>
            <a:ext cx="560811" cy="2587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5EBD97-C588-4422-8395-B0913084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743200"/>
            <a:ext cx="5238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$230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8954C3-2B4B-42FD-9B5D-49E0277FA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7432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600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BEST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C1759B-F1C6-469F-A88F-DDFB2C374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25788"/>
            <a:ext cx="1381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SVCJ proxy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4A3CF1-6385-420B-8640-70198484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3144838"/>
            <a:ext cx="563028" cy="2587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3073CD-29C2-4AEC-B68F-AFA23CF1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2803" y="3125788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$231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615715-60B3-4FF3-BCFB-4C486E61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08375"/>
            <a:ext cx="1381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Dynamic jump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2544BA-732F-4A87-94E2-6F895080C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3527425"/>
            <a:ext cx="652054" cy="2587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5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FAC126-D2D4-4493-9B1A-01D0C36B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1829" y="3508375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$268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66C95C-0643-4388-8D20-A3CB08B5E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90963"/>
            <a:ext cx="1381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MR-ISVM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060707-3ADD-4B57-9592-048C0B2A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3910013"/>
            <a:ext cx="896668" cy="2587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3101AB-FAF5-4834-BB6E-5E5977DC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443" y="3890963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$368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3E68B-7B35-4A63-89B5-EC2B07E9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73550"/>
            <a:ext cx="1381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GARCH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B4508A-3D56-4294-BECF-08118EF5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4292600"/>
            <a:ext cx="1526356" cy="2587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7C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8D7283-547C-49B2-8C5F-E059417B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6131" y="42735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$626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1D3435-F1D0-4917-A7DA-20BA1A40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56138"/>
            <a:ext cx="1381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Black-Scholes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8A28DD-90ED-49AA-9241-2A912575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4675188"/>
            <a:ext cx="2800350" cy="2587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1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59CD56-4677-4E86-89D4-EED68601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656138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$1149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D8FC5E-668F-4CFA-B147-5899459F8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5000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ETH MAE, USD lower is better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A5518F-DDBB-4963-B137-4ADBC01D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67000"/>
            <a:ext cx="5076825" cy="3635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0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2DED9B-3E38-473F-9D49-7ADAED0F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43200"/>
            <a:ext cx="1381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MR-ISVM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598DAC-9CD8-4182-8691-84EDED9E3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762250"/>
            <a:ext cx="1018474" cy="2587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DF4CD9-2CAF-459F-A294-AA289432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743200"/>
            <a:ext cx="5238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$11.3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AA87C8-6377-4AD9-AFB3-219E463E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27432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600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BEST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844162-2F78-423A-933A-A53236A5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25788"/>
            <a:ext cx="1381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Merton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58E6F9C-F479-4C0C-8F51-2F7A65307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144838"/>
            <a:ext cx="1170431" cy="2587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C42A9AF-7A3B-4BE3-BDA6-13AAA490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006" y="3125788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$12.9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66C2998-DD4F-4801-8B08-B5E13646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08375"/>
            <a:ext cx="1381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Dynamic jump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B01FE0B-ED94-4ABF-B74C-A6E04D1C7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527425"/>
            <a:ext cx="1224701" cy="2587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5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33710C2-C714-433F-B4B1-46547EE62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3276" y="3508375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$13.5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86DA98D-C994-4C85-85B3-F136803AD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90963"/>
            <a:ext cx="1381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GARCH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434DA15-4C0D-4A0B-ACF4-4B44CEE03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910013"/>
            <a:ext cx="1255454" cy="2587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7C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0F974A3-B0BE-4B7A-84FD-CDF755C4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4029" y="3890963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$13.9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A0E6D83-94EC-44B1-917B-89E89EBCF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73550"/>
            <a:ext cx="1381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SVCJ proxy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5FBDE90-16B9-416C-B791-EF583766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292600"/>
            <a:ext cx="2730703" cy="2587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453D50F-0A84-482B-9EB3-5033A298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9278" y="42735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$30.2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82FC7D2-2753-41E2-A832-C1A3B689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56138"/>
            <a:ext cx="1381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Black-Scholes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4EC530A-EB03-4A5F-A56F-5A4D8A23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675188"/>
            <a:ext cx="2800350" cy="2587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1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2E59E49-0FD4-4F38-B140-26D46FCA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4656138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$31.0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28E1E44-886D-4EAE-9852-8BF82D9F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19700"/>
            <a:ext cx="704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88F8A82-0312-48AF-8F5A-E121BD059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5295900"/>
            <a:ext cx="1581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Underlying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F1FC03A-79E5-48A4-A8D1-5F45CDF59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295900"/>
            <a:ext cx="1295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Best candidate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C130148-315D-46D7-9481-5F8902505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295900"/>
            <a:ext cx="1295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MAE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D93346A-7472-458E-9644-E865BBC8D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295900"/>
            <a:ext cx="2343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Interpretation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D85CC0F-5A6C-4409-85E3-BE55DEC8B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543550"/>
            <a:ext cx="704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0E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66DA9D9-75AE-4200-B027-3BB711DC8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5619750"/>
            <a:ext cx="1581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BTC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8FE0B9-2EF9-4EAF-A506-865B5750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619750"/>
            <a:ext cx="1295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Merton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3EB7884-FA65-40ED-9B43-D4AC4F5A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619750"/>
            <a:ext cx="1295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$230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263668A-8AA5-4FAF-BFC7-99CD92C7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619750"/>
            <a:ext cx="2343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Jump risk improves the heavy-tail mark.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A5B16CF-2099-4A8D-AFF9-1BE456FC6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867400"/>
            <a:ext cx="704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0E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354B7AB-10A5-4058-9DB5-299750EA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5943600"/>
            <a:ext cx="1581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ETH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183EC46-4E0B-4D3C-83E1-35CD798C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943600"/>
            <a:ext cx="1295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MR-ISVM surface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75AE894-08E2-4ACB-958E-1B0BBB0C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943600"/>
            <a:ext cx="1295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$11.3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5E9B10C-C796-44BF-9781-97A936085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943600"/>
            <a:ext cx="2343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The current surface shape carries more signal.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17DB5D9-EE07-47F6-B992-0CA9FAE24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E0A9705-EF37-4D46-8402-29CFAD3AD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6E7C85"/>
                </a:solidFill>
                <a:latin typeface="Avenir Next"/>
                <a:ea typeface="Avenir Next"/>
                <a:cs typeface="Avenir Next"/>
              </a:defRPr>
            </a:pPr>
            <a:r>
              <a:rPr sz="585" b="0">
                <a:solidFill>
                  <a:srgbClr val="6E7C85"/>
                </a:solidFill>
                <a:latin typeface="Avenir Next"/>
                <a:ea typeface="Avenir Next"/>
                <a:cs typeface="Avenir Next"/>
              </a:rPr>
              <a:t>Source: reports/tables/candidate_model_errors.csv; Deribit BTC/ETH option snapshot after liquidity and maturity filters. Best = lowest MAE.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5C752B1-AE36-433F-AF6C-16878325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E7C85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E7C85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5126052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B0456B-9E49-4B69-9632-01A12A338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39E497-F901-4689-8CFE-152DAB119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666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B081F7-CF92-4645-B8BC-0A136718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STATISTICAL INFERENCE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42805F-F969-46CC-A56F-6639DC6F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76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B2235"/>
                </a:solidFill>
                <a:latin typeface="Georgia"/>
                <a:ea typeface="Georgia"/>
                <a:cs typeface="Georgia"/>
              </a:defRPr>
            </a:pPr>
            <a:r>
              <a:rPr sz="2475" b="1">
                <a:solidFill>
                  <a:srgbClr val="0B2235"/>
                </a:solidFill>
                <a:latin typeface="Georgia"/>
                <a:ea typeface="Georgia"/>
                <a:cs typeface="Georgia"/>
              </a:rPr>
              <a:t>Most candidate improvements are statistically meaningful, but not all are equally useful.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D854E5-710B-4EB9-ABF6-2602E3D5B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E7C85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>
                <a:solidFill>
                  <a:srgbClr val="6E7C85"/>
                </a:solidFill>
                <a:latin typeface="Avenir Next"/>
                <a:ea typeface="Avenir Next"/>
                <a:cs typeface="Avenir Next"/>
              </a:rPr>
              <a:t>The paired tests ask whether each model reduces absolute error relative to Black-Scholes on the same option contracts.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81CA36-984A-4E7C-85D1-B7B5B927C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06A922-70CA-4A15-BEF7-46FE58150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7381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D90893-5AA0-4315-B41B-0ED34061B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57450"/>
            <a:ext cx="7715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Asset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542705-6BEC-4782-AD88-691D5719F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457450"/>
            <a:ext cx="1676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Candidate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F39E3C-AFF5-4746-928F-28947B77D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457450"/>
            <a:ext cx="1009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Share improved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284872-E5B0-403C-B306-56F05CCB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457450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Mean AE gain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60787B-32EF-45BA-AFF8-02989FA0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457450"/>
            <a:ext cx="1009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t-test 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5466F1-DBE3-45BC-8980-36E7CD221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45745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F0D9A4-6625-4F36-8C85-CFBC6E4E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0"/>
            <a:ext cx="7381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0E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E7FADF-EB95-43CA-A6E0-E6655F830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38450"/>
            <a:ext cx="7715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698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BTC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C9FE8A-7F6E-4AB6-9477-F5A166FA9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838450"/>
            <a:ext cx="1676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698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Dynamic jump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B4863D-6324-4754-A2F4-1A8F0EB7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838450"/>
            <a:ext cx="1009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698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85.8%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289087-7267-4C22-B850-E2EC76EC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838450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698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$882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405A04-1B6D-41EA-A6E3-9B48C6FC3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838450"/>
            <a:ext cx="1009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698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&lt; 1e-74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E0149A-A26E-4E09-8684-7EC2114D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83845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698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strong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933D11-279E-4E3A-AB25-DE348CA3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7381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2E4540-6A68-4617-AAB4-A2733837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19450"/>
            <a:ext cx="7715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698" b="1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BTC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22F60A-E507-4053-A55A-4D0B2DA7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219450"/>
            <a:ext cx="1676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698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Merton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73F4EF-F1E0-4691-A9FA-EB9D0039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009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698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81.5%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5FEED7-A52B-456A-8377-DBD9FB93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219450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698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$919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B65AE0-A766-4248-A3A9-2BE3E8AA3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219450"/>
            <a:ext cx="1009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698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&lt; 1e-66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36194B-577F-4B33-B949-441F0178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21945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698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strong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C88EDD-2FD6-4A35-BFD9-D3058A4D6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0"/>
            <a:ext cx="7381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3C1069-5792-4057-AE04-4056B7B0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0450"/>
            <a:ext cx="7715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698" b="1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BTC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DA1AE1-3B66-446B-AAFA-CE9EC19D4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600450"/>
            <a:ext cx="1676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698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SVCJ proxy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2DEDDC-5269-4D1C-9D58-03D13001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600450"/>
            <a:ext cx="1009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698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82.3%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A8FC54-3F4A-493F-BC6C-A613A18E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600450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698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$918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E590AB-9318-4BDB-827C-34FEADA5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600450"/>
            <a:ext cx="1009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698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&lt; 1e-64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6F25570-D9A9-442C-B6AC-9EAB22A0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60045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698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strong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CA6EC57-8D18-47B8-AE04-124AF1F1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05250"/>
            <a:ext cx="7381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0E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2E70E79-CE1C-4EBC-86BA-D864EC8F8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81450"/>
            <a:ext cx="7715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698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ETH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A1FB010-C932-4AF9-A88C-EDFE2AEC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981450"/>
            <a:ext cx="1676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698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GARCH variance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84AC0E8-3DE7-4746-9E0E-E50BC0C6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981450"/>
            <a:ext cx="1009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698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85.7%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4D6CDFD-F803-484C-9C24-FF7020F45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981450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698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$17.1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7135698-F50D-4339-8207-8C0CFA15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981450"/>
            <a:ext cx="1009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698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&lt; 1e-47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326842E-AA2B-4BC5-A544-9D8943BEB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98145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698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strong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BFD8511-1FE2-4839-B42C-12AC8C40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0"/>
            <a:ext cx="7381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150DD9C-F973-4354-99CD-CB5E51EA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62450"/>
            <a:ext cx="7715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698" b="1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ETH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1DE824A-499A-4833-BA53-23FC0B04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362450"/>
            <a:ext cx="1676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698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MR-ISVM surface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876237B-FC9D-4449-B15F-FCD0CFC2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362450"/>
            <a:ext cx="1009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698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81.0%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9D64FA8-FEE9-4882-9539-F229F94B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362450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698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$19.7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6744DF7-C427-4B3F-A3B9-67F2C25AC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362450"/>
            <a:ext cx="1009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698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&lt; 1e-39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C4A49BF-C145-487D-958D-90881172F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36245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698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strong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26D0A56-52A7-4580-BC1C-DBB4996C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0"/>
            <a:ext cx="7381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535D7AE-C2EE-4986-A9B9-8B70E357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43450"/>
            <a:ext cx="7715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698" b="1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ETH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840F0DC-CE53-4A0A-B850-27F1108BA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743450"/>
            <a:ext cx="1676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698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SVCJ proxy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E97A79B-3B7A-40B6-97FB-7FAFE8D94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743450"/>
            <a:ext cx="1009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698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51.3%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4829253-E1E2-41BF-9525-884DC3CAA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743450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698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$0.8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16CB9DB-8660-4C47-982B-89F3129C5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743450"/>
            <a:ext cx="1009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698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0.202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BFB4AD9-BD8C-4032-8E10-DC26265B4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74345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698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weak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750CAD8-79F4-4298-AAAB-3427438E7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95550"/>
            <a:ext cx="285750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771F49A-CFDC-4EEF-BCAC-19733D0F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622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2235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0B2235"/>
                </a:solidFill>
                <a:latin typeface="Georgia"/>
                <a:ea typeface="Georgia"/>
                <a:cs typeface="Georgia"/>
              </a:rPr>
              <a:t>How to read the tests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D4101DE-7850-4171-B6AC-231269110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24200"/>
            <a:ext cx="22383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E7C85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E7C85"/>
                </a:solidFill>
                <a:latin typeface="Avenir Next"/>
                <a:ea typeface="Avenir Next"/>
                <a:cs typeface="Avenir Next"/>
              </a:rPr>
              <a:t>1. Share improved: fraction of contracts where a candidate beats BSM.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88" b="0">
                <a:solidFill>
                  <a:srgbClr val="6E7C85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E7C85"/>
                </a:solidFill>
                <a:latin typeface="Avenir Next"/>
                <a:ea typeface="Avenir Next"/>
                <a:cs typeface="Avenir Next"/>
              </a:rPr>
              <a:t>2. Paired t-test: asks whether average improvement is positive.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88" b="0">
                <a:solidFill>
                  <a:srgbClr val="6E7C85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E7C85"/>
                </a:solidFill>
                <a:latin typeface="Avenir Next"/>
                <a:ea typeface="Avenir Next"/>
                <a:cs typeface="Avenir Next"/>
              </a:rPr>
              <a:t>3. Wilcoxon and sign tests: robustness checks that avoid relying only on normality.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DC4F3D1-63A9-4A29-B303-03846DC59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FC4CE70-7639-423B-A4CA-6DF799576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62625"/>
            <a:ext cx="9544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2235"/>
                </a:solidFill>
                <a:latin typeface="Georgia"/>
                <a:ea typeface="Georgia"/>
                <a:cs typeface="Georgia"/>
              </a:defRPr>
            </a:pPr>
            <a:r>
              <a:rPr sz="975" b="1">
                <a:solidFill>
                  <a:srgbClr val="0B2235"/>
                </a:solidFill>
                <a:latin typeface="Georgia"/>
                <a:ea typeface="Georgia"/>
                <a:cs typeface="Georgia"/>
              </a:rPr>
              <a:t>Inference is useful because it turns a pretty ranking chart into a testable claim: the improvement is not just visual noise.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FA35A11-5F1C-4902-8738-B0DBC0DC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F47C35A-366E-4FE5-9417-42B72929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6E7C85"/>
                </a:solidFill>
                <a:latin typeface="Avenir Next"/>
                <a:ea typeface="Avenir Next"/>
                <a:cs typeface="Avenir Next"/>
              </a:defRPr>
            </a:pPr>
            <a:r>
              <a:rPr sz="585" b="0">
                <a:solidFill>
                  <a:srgbClr val="6E7C85"/>
                </a:solidFill>
                <a:latin typeface="Avenir Next"/>
                <a:ea typeface="Avenir Next"/>
                <a:cs typeface="Avenir Next"/>
              </a:rPr>
              <a:t>Source: reports/tables/candidate_statistical_tests.csv. Paired tests compare each candidate AE against Black-Scholes on identical contracts.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FBD37F8-50F5-4FF3-9874-3F1F724A8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E7C85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E7C85"/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6573403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E9AE5F-B2F7-4053-BFD3-C2BF63F8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98C0AD-DDC9-4E19-9D1A-07AD594B0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666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31700C-FC6F-4F57-BED9-23F6B157B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RATE SENSITIVITY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F90FC9-82A5-4C0C-B8CE-B7D16700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76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B2235"/>
                </a:solidFill>
                <a:latin typeface="Georgia"/>
                <a:ea typeface="Georgia"/>
                <a:cs typeface="Georgia"/>
              </a:defRPr>
            </a:pPr>
            <a:r>
              <a:rPr sz="2475" b="1">
                <a:solidFill>
                  <a:srgbClr val="0B2235"/>
                </a:solidFill>
                <a:latin typeface="Georgia"/>
                <a:ea typeface="Georgia"/>
                <a:cs typeface="Georgia"/>
              </a:rPr>
              <a:t>Rates move calls and puts as course theory predicts, but model risk dominates the dollar level.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3ECD18-16DB-4F4A-947A-8F69F14D3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E7C85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>
                <a:solidFill>
                  <a:srgbClr val="6E7C85"/>
                </a:solidFill>
                <a:latin typeface="Avenir Next"/>
                <a:ea typeface="Avenir Next"/>
                <a:cs typeface="Avenir Next"/>
              </a:rPr>
              <a:t>We reprice 30-day ATM options at r = 1% and r = 5% for every candidate.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4D270C-B2E3-4C4F-8658-B76AEAC4B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654FE5-52FC-4C6B-A0AF-95E00416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62200"/>
            <a:ext cx="752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A1D636-AE16-495A-9A6F-899F1AD66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47925"/>
            <a:ext cx="16764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6A5D1D-FB28-4859-9B0D-15A4C61BC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447925"/>
            <a:ext cx="12954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BTC call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0EB7CE-7DB7-4389-BDE3-DDD33599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447925"/>
            <a:ext cx="12954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BTC 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1BE6E1-5C31-4837-AB81-B2E8C42D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447925"/>
            <a:ext cx="12954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ETH call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B6C7AB-75EB-4DD7-A750-D6CB33BB4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447925"/>
            <a:ext cx="12954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ETH 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23C8CA-2031-4E94-8F8D-7C6C1515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752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F9644B-9F8A-4562-BEC2-137F2E70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47975"/>
            <a:ext cx="16764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Black-Scholes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5FFFFD-5D5A-493C-9E9A-22B1AC25C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47975"/>
            <a:ext cx="12954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+125.3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64EC89-9021-4D34-ABC1-EEAF030F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847975"/>
            <a:ext cx="12954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-127.0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7B6159-8B11-4C5D-A369-069835AE3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847975"/>
            <a:ext cx="12954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+3.35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DCC48E-D068-4B54-945B-44414C949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47975"/>
            <a:ext cx="12954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-3.59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64CC6E-CA72-4AC6-85C6-45FECE17B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752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9F3944-A736-4879-A237-EEC117F5C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48025"/>
            <a:ext cx="16764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Merton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4470D7-2D01-46EF-9DC5-43D3006F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248025"/>
            <a:ext cx="12954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+133.1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20511C-A59B-40AA-A3F8-C4DEDA631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248025"/>
            <a:ext cx="12954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-119.2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899078-2585-4481-AB55-6C0CAE8A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48025"/>
            <a:ext cx="12954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+3.47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AE1371-B349-4D81-8F6F-72381043D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248025"/>
            <a:ext cx="12954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-3.48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BA6BE9-19E3-4A00-9EAA-3550A58F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2350"/>
            <a:ext cx="752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69BEC5-6D30-45E7-85FC-F7D6ED74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48075"/>
            <a:ext cx="16764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SVCJ proxy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0A0147-6E04-4886-9128-0720BA803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648075"/>
            <a:ext cx="12954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+132.5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72BBBE-B668-4EF5-B33C-B40AEA605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648075"/>
            <a:ext cx="12954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-119.8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2290D5-4E7C-4F69-999E-66C800785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648075"/>
            <a:ext cx="12954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+3.41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DA046E-7FB5-4952-AE82-41EB07F0D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648075"/>
            <a:ext cx="12954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-3.53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3B0A3A-5D4E-4B3E-A726-C9DB8787E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62400"/>
            <a:ext cx="752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DC8F37-D1AC-4242-A6CB-06AD485A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48125"/>
            <a:ext cx="16764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MR-ISVM surface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74B5D6-2AEB-4D14-BCCA-304A6AD01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048125"/>
            <a:ext cx="12954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+123.5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6C9B27-4E05-4F53-8C1A-23A563ED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048125"/>
            <a:ext cx="12954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-129.6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2FB6BBF-0039-479F-8F49-EBC82FA8B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048125"/>
            <a:ext cx="12954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+3.36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A86EF9F-4452-4E6E-8743-AEA5966D8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048125"/>
            <a:ext cx="12954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-3.61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780BF7E-C3A3-4770-8438-A4F101C53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62450"/>
            <a:ext cx="752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966B09D-5016-4B7A-B1B6-660CF4B91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48175"/>
            <a:ext cx="16764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Dynamic jump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7B76009-A89B-4BAB-898E-9C3D81DF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448175"/>
            <a:ext cx="12954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+132.3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2B06266-5BE2-4BC5-A597-606AA3143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448175"/>
            <a:ext cx="12954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-120.0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67B01B4-82B2-4B74-ABE1-4AF9DB08F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448175"/>
            <a:ext cx="12954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+3.45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BBD3E98-82D1-4577-A2FC-52887A97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448175"/>
            <a:ext cx="12954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-3.50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AFD1508-9C16-49A0-BB6F-1D891212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752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65700E1-204B-41B9-A539-AE2CD0F2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48225"/>
            <a:ext cx="16764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GARCH variance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B54DA61-86E0-4E64-927D-164EB080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848225"/>
            <a:ext cx="12954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+124.1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CEFBE6F-7E24-43FE-BBD2-CB065D502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848225"/>
            <a:ext cx="12954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-128.1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5A34C8C-C0D7-4E13-A790-522900AE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848225"/>
            <a:ext cx="12954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+3.31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167C2C4-1F1E-4F9E-A681-3F5C44B86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848225"/>
            <a:ext cx="12954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-3.63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A7AD2C7-1873-4626-8AA5-E59E80E87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235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0B2235"/>
                </a:solidFill>
                <a:latin typeface="Georgia"/>
                <a:ea typeface="Georgia"/>
                <a:cs typeface="Georgia"/>
              </a:rPr>
              <a:t>Course intuition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46EE4B3-194B-4731-A215-CFF070007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95600"/>
            <a:ext cx="2000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7C85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E7C85"/>
                </a:solidFill>
                <a:latin typeface="Avenir Next"/>
                <a:ea typeface="Avenir Next"/>
                <a:cs typeface="Avenir Next"/>
              </a:rPr>
              <a:t>Higher rates reduce the present value of the strike.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6E7C85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E7C85"/>
                </a:solidFill>
                <a:latin typeface="Avenir Next"/>
                <a:ea typeface="Avenir Next"/>
                <a:cs typeface="Avenir Next"/>
              </a:rPr>
              <a:t>Calls tend to rise.</a:t>
            </a:r>
          </a:p>
          <a:p xmlns:a="http://schemas.openxmlformats.org/drawingml/2006/main">
            <a:pPr algn="l">
              <a:defRPr sz="900" b="0">
                <a:solidFill>
                  <a:srgbClr val="6E7C85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E7C85"/>
                </a:solidFill>
                <a:latin typeface="Avenir Next"/>
                <a:ea typeface="Avenir Next"/>
                <a:cs typeface="Avenir Next"/>
              </a:rPr>
              <a:t>Puts tend to fall.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6E7C85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E7C85"/>
                </a:solidFill>
                <a:latin typeface="Avenir Next"/>
                <a:ea typeface="Avenir Next"/>
                <a:cs typeface="Avenir Next"/>
              </a:rPr>
              <a:t>The sign is stable across all candidates.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BFC57B9-95D0-44B5-AA6F-4084BB7D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5770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2235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0B2235"/>
                </a:solidFill>
                <a:latin typeface="Georgia"/>
                <a:ea typeface="Georgia"/>
                <a:cs typeface="Georgia"/>
              </a:rPr>
              <a:t>What matters more in crypto is not the sign of rho, but the volatility and jump assumptions used to price the option before rates are shocked.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9F6564D-C0C4-472C-A51B-40FC659E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1500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96C68E8-46FF-4467-BA19-C8A2AAD7E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762625"/>
            <a:ext cx="9163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2235"/>
                </a:solidFill>
                <a:latin typeface="Georgia"/>
                <a:ea typeface="Georgia"/>
                <a:cs typeface="Georgia"/>
              </a:defRPr>
            </a:pPr>
            <a:r>
              <a:rPr sz="975" b="1">
                <a:solidFill>
                  <a:srgbClr val="0B2235"/>
                </a:solidFill>
                <a:latin typeface="Georgia"/>
                <a:ea typeface="Georgia"/>
                <a:cs typeface="Georgia"/>
              </a:rPr>
              <a:t>Comparison thread: all candidates agree on rate direction; they disagree much more on jump, smile, and volatility risk premia.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233DB65-49B7-4534-82DF-2D292D88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CB45BAD-B4C0-423A-B092-3229041CD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6E7C85"/>
                </a:solidFill>
                <a:latin typeface="Avenir Next"/>
                <a:ea typeface="Avenir Next"/>
                <a:cs typeface="Avenir Next"/>
              </a:defRPr>
            </a:pPr>
            <a:r>
              <a:rPr sz="585" b="0">
                <a:solidFill>
                  <a:srgbClr val="6E7C85"/>
                </a:solidFill>
                <a:latin typeface="Avenir Next"/>
                <a:ea typeface="Avenir Next"/>
                <a:cs typeface="Avenir Next"/>
              </a:rPr>
              <a:t>Source: reports/tables/candidate_rate_summary.csv. 30-day ATM repricing; values are USD price changes from r = 1% to r = 5%.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908EBA1-7915-4F5E-BFB3-E5437DAE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E7C85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E7C85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8137650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242B42-0465-45C2-8CF9-31DD41483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00F11D-2D54-499A-A792-6AA0D77FC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666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4F522C-60A3-4D11-BC99-034AC3396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CRASH STRESS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0E186C-08BB-4FE6-A4FA-2D90E45E3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76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B2235"/>
                </a:solidFill>
                <a:latin typeface="Georgia"/>
                <a:ea typeface="Georgia"/>
                <a:cs typeface="Georgia"/>
              </a:defRPr>
            </a:pPr>
            <a:r>
              <a:rPr sz="2475" b="1">
                <a:solidFill>
                  <a:srgbClr val="0B2235"/>
                </a:solidFill>
                <a:latin typeface="Georgia"/>
                <a:ea typeface="Georgia"/>
                <a:cs typeface="Georgia"/>
              </a:rPr>
              <a:t>Crash-stress testing changes the ranking: SVCJ carries the highest downside insurance value.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6841F1-4597-4F98-A41E-8EC6721F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E7C85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>
                <a:solidFill>
                  <a:srgbClr val="6E7C85"/>
                </a:solidFill>
                <a:latin typeface="Avenir Next"/>
                <a:ea typeface="Avenir Next"/>
                <a:cs typeface="Avenir Next"/>
              </a:rPr>
              <a:t>We price a 30-day 5% OTM put under each candidate as a simple downside-protection test.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7676CC-A561-4FF6-9186-09860CBB0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7959B6-94E5-4412-B7CB-860E406C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62200"/>
            <a:ext cx="5000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BTC 30-day 5% OTM put value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23B351-8577-4ACC-BDDC-2A19A41BA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1381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Black-Scholes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EB8C4C-897C-4EB5-AB73-F3633F9CD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743200"/>
            <a:ext cx="1175284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1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3E06C0-6E4F-47CF-BBAA-3B3A26CA1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5059" y="27241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$900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01DDF9-D335-497D-B2E1-A6672173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24200"/>
            <a:ext cx="1381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Merton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4F53B4-7E41-4BAF-A1D5-BAD76463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3143250"/>
            <a:ext cx="2739254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E6F059-3444-4632-ABCE-94D40CC6C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9029" y="31242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$2099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5F3DEE-E075-4554-BD45-228D2823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48050"/>
            <a:ext cx="5076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0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956D9F-A44C-4C41-8A5C-4CE6ECCD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0"/>
            <a:ext cx="1381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SVCJ proxy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C50AC9-3FE0-4E3E-977A-DD424C52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3543300"/>
            <a:ext cx="28003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A31376-4C73-421E-93B9-F48EFA0F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524250"/>
            <a:ext cx="5238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$2146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F973EE-AE4B-461B-BCE7-56C1966A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5242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600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BEST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6A35B4-DA4D-4887-B972-46FA246CB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24300"/>
            <a:ext cx="1381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MR-ISVM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8427F6-8860-46F1-996F-2EB0FECC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3943350"/>
            <a:ext cx="2562362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1672DF-DB96-49C7-A7E7-50789D491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137" y="39243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$1963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B52AC7-14DD-4000-9D35-493B91CC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24350"/>
            <a:ext cx="1381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Dynamic jump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71F90C-1965-42EE-A45C-0142FA11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4343400"/>
            <a:ext cx="2559203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5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ED5401-4466-4EE0-A60C-1DC701DAE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8978" y="43243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$1961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F5D93B-DB5A-4377-9A99-FA2B91CB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24400"/>
            <a:ext cx="1381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GARCH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D4231F-9D55-4084-B1AE-006BCB7A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4743450"/>
            <a:ext cx="1630234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7C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50A461-B6A0-4FF2-9879-1B3E358DA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0009" y="47244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$1249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5E89B4-D82B-4C90-854A-8F84D1769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62200"/>
            <a:ext cx="5000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ETH 30-day 5% OTM put value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ADBB01-CBC1-44E2-8160-D86B6E934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24150"/>
            <a:ext cx="1381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Black-Scholes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D56894-67E8-41A2-8183-9B553D9E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743200"/>
            <a:ext cx="1779591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1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DA4878-7E0C-4785-BA37-97C7CD04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8166" y="27241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$58.8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D44B92-B314-4CD5-A285-620A2AE5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24200"/>
            <a:ext cx="1381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Merton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BF8133-E186-4E72-80B0-FF43A1E9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143250"/>
            <a:ext cx="2519043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755A7F9-5D69-4EA6-B54F-F41DEFF1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7618" y="31242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$83.2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AD83C7A-F072-4EFC-9418-C73741CBA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48050"/>
            <a:ext cx="5076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0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04C65FC-9EF1-4D95-BC03-489EF846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24250"/>
            <a:ext cx="1381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SVCJ proxy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2F5DC9A-CE5B-4F24-B265-0A675231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543300"/>
            <a:ext cx="28003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60B3AAC-1F18-41BB-8C86-A6C8C6B10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3524250"/>
            <a:ext cx="5238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$92.5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A23615D-96DE-4114-BB22-1590253E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35242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600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BEST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906D075-95B0-4EBB-A0F7-7B408219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24300"/>
            <a:ext cx="1381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MR-ISVM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24A5291-6A92-4631-8860-5A9A92EF5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943350"/>
            <a:ext cx="2191407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21C258E-27B2-43BB-8D71-F6971CE3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982" y="39243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$72.4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4FC5E25-9BF6-4D27-9E85-0AF62226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24350"/>
            <a:ext cx="1381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Dynamic jump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9C3379F-B39E-463B-B308-66395D018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343400"/>
            <a:ext cx="2482404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5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A06E001-C9FF-43D7-8198-F627F250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0979" y="43243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$82.0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DD9F011-B3FE-4B6E-8AF0-8970AA0F2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24400"/>
            <a:ext cx="1381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GARCH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36859FE-8201-42A3-84BF-783F37D1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743450"/>
            <a:ext cx="2284671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7C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A10233E-8303-4C3B-90C6-524E87B7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3246" y="47244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$75.5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05BE5A1-DD8B-4E09-BB70-B1C5060CE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219700"/>
            <a:ext cx="7143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DBCE2C5-C3C9-4460-80CF-4976271D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295900"/>
            <a:ext cx="1676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Underlying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BFE42A9-02A9-495A-8EBC-3344D37A8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295900"/>
            <a:ext cx="1295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Best crash model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C274F83-50C8-499A-8E13-2D8D9BF5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295900"/>
            <a:ext cx="1390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Put value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547A38F-99CB-4CBC-A5EE-E482D07D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295900"/>
            <a:ext cx="2247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Economic intuition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18549D0-56F2-4D64-B12B-E4FAE3CFF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543550"/>
            <a:ext cx="7143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0E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F8005A2-1C39-4E9B-82FA-C29B5DAC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619750"/>
            <a:ext cx="1676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BTC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F46944B-4D0B-49AA-8FED-8DE1266A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619750"/>
            <a:ext cx="1295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SVCJ proxy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0A63352-1E15-4568-94EB-D6F7A0A99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619750"/>
            <a:ext cx="1390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$2,146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E82BEED-6575-403F-A6A4-4A1D2E84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619750"/>
            <a:ext cx="2247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Crash plus volatility shock is expensive.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C36AD65-5F6F-4F91-A199-70E26D99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867400"/>
            <a:ext cx="7143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0E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15ED502-FE47-465B-A842-3E994E88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943600"/>
            <a:ext cx="1676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ETH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9CF8D6F-1B4A-43C7-9974-0FB480AA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943600"/>
            <a:ext cx="1295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SVCJ proxy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27CFB93-0887-4441-8D53-3BE682514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943600"/>
            <a:ext cx="1390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$92.5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9393269-A167-408A-BAF4-A83123B2B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943600"/>
            <a:ext cx="2247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Co-jumps dominate downside insurance.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6A63390-3BB6-4C65-AC67-67F4C06A8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5FC7777-BDC9-4C7F-8857-377AB7B44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6E7C85"/>
                </a:solidFill>
                <a:latin typeface="Avenir Next"/>
                <a:ea typeface="Avenir Next"/>
                <a:cs typeface="Avenir Next"/>
              </a:defRPr>
            </a:pPr>
            <a:r>
              <a:rPr sz="585" b="0">
                <a:solidFill>
                  <a:srgbClr val="6E7C85"/>
                </a:solidFill>
                <a:latin typeface="Avenir Next"/>
                <a:ea typeface="Avenir Next"/>
                <a:cs typeface="Avenir Next"/>
              </a:rPr>
              <a:t>Source: reports/tables/candidate_stress_prices.csv. Scenario = 30-day 5% OTM put; higher value means more downside insurance.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0787AD5-07CE-48F6-A38D-48DD71E4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E7C85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E7C85"/>
                </a:solidFill>
                <a:latin typeface="Avenir Next"/>
                <a:ea typeface="Avenir Next"/>
                <a:cs typeface="Avenir Next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7886097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FC8838-38F6-4AC0-BFFE-9951F3A1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D76416-7025-4F3B-B1AD-0FC6F7F7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666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AC937A-4169-477B-916F-A30789C28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GREEKS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5F6F45-134A-43A0-8733-604937B97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76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B2235"/>
                </a:solidFill>
                <a:latin typeface="Georgia"/>
                <a:ea typeface="Georgia"/>
                <a:cs typeface="Georgia"/>
              </a:defRPr>
            </a:pPr>
            <a:r>
              <a:rPr sz="2475" b="1">
                <a:solidFill>
                  <a:srgbClr val="0B2235"/>
                </a:solidFill>
                <a:latin typeface="Georgia"/>
                <a:ea typeface="Georgia"/>
                <a:cs typeface="Georgia"/>
              </a:rPr>
              <a:t>Greeks are local risk measures; jump risk is not local.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B6497E-6905-4648-826C-3841A6AA9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E7C85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>
                <a:solidFill>
                  <a:srgbClr val="6E7C85"/>
                </a:solidFill>
                <a:latin typeface="Avenir Next"/>
                <a:ea typeface="Avenir Next"/>
                <a:cs typeface="Avenir Next"/>
              </a:rPr>
              <a:t>Delta, Gamma, Vega, and Rho remain essential, but jump models change what 'local' sensitivity means.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CBD2C5-970E-4FF9-A4A9-1D984CA2D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144371-932D-4714-AA45-3B9026CA2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62200"/>
            <a:ext cx="7334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5E957C-3F57-4809-AEFC-374B20AD9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47925"/>
            <a:ext cx="14859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BTC ATM call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C6BCAD-24A5-4BCF-A110-6163E1797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447925"/>
            <a:ext cx="7239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Delta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EECFE1-E47B-4521-B9D8-D1E908C39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47925"/>
            <a:ext cx="86677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Gamma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490203-FB11-400D-97C2-2EA84E094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447925"/>
            <a:ext cx="86677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Vega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BF17EA-F5C6-4482-B87D-67DDED13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47925"/>
            <a:ext cx="27241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FA2494-6126-4983-A79C-5B32690A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0"/>
            <a:ext cx="7334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EBAA10-6A44-495E-8EB0-B55B78539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47975"/>
            <a:ext cx="14859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682" b="1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Black-Scholes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A02041-1878-4363-A296-444E02B7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847975"/>
            <a:ext cx="7239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682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0.520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A053F8-F562-46E4-96BA-236C98BD6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47975"/>
            <a:ext cx="86677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682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0.000066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62C414-DA03-412E-BEA8-213539CF8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847975"/>
            <a:ext cx="86677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682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8,790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3CAD8A-E0F0-42C2-A855-AE609AD75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847975"/>
            <a:ext cx="27241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682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clean baseline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4BA984-29F9-4F2E-85C7-373998CB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62300"/>
            <a:ext cx="7334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9853B7-B42A-4449-AAEA-9353EFB2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48025"/>
            <a:ext cx="14859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682" b="1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Merton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5DB57D-373A-43A4-8167-BD62C4677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248025"/>
            <a:ext cx="7239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682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0.570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369F5A-3589-474C-9E24-72A13A0B1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248025"/>
            <a:ext cx="86677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682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0.000043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01032B-5339-42AD-9FBA-3F58BC59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248025"/>
            <a:ext cx="86677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682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631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6A159E-AB1D-499E-ABD2-3BB1B9007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248025"/>
            <a:ext cx="27241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682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jump mixture shifts sensitivity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15F0E6-2C44-4673-9157-44E0EF205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62350"/>
            <a:ext cx="7334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A1CD31-015C-4964-914C-08CC87A4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48075"/>
            <a:ext cx="14859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682" b="1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SVCJ proxy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A10D57-F5AB-4F66-B2A6-2639A7AD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648075"/>
            <a:ext cx="7239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682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0.568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5D4625-8984-46AF-8BF5-1295C47A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648075"/>
            <a:ext cx="86677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682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0.000042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7143F5-A99E-4195-849B-DEAFB3F1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648075"/>
            <a:ext cx="86677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682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1,686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7072E2-AAAD-4403-83C1-217261D0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648075"/>
            <a:ext cx="27241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682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co-jump stress premium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D02FAE-733C-43EE-86CA-292D6DE7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62400"/>
            <a:ext cx="7334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0E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30C210-4437-4A03-8056-BE190C3E9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48125"/>
            <a:ext cx="14859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682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MR-ISVM surface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C76AB8-9D87-4D2A-A4F7-B00E6AA9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048125"/>
            <a:ext cx="7239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682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0.545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51D2B84-6D39-4F3A-9C3A-8E346341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048125"/>
            <a:ext cx="86677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682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0.008556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0E956B-5425-4BEE-94AB-D59C0747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048125"/>
            <a:ext cx="86677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682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8,786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DF97562-8CE0-419C-944B-CEFFAA2C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048125"/>
            <a:ext cx="27241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682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surface curvature can create high local gamma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583809-50F6-47F3-9132-EE88FC7EB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62450"/>
            <a:ext cx="7334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7DA6880-3D48-4D60-89D3-4557D748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48175"/>
            <a:ext cx="14859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682" b="1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Dynamic jump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66E69FD-22FC-4645-8579-4634F6871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448175"/>
            <a:ext cx="7239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682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0.564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6D275FC-CDF6-4F21-919B-06498ED4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448175"/>
            <a:ext cx="86677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682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0.000046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34C8625-A741-4695-86E5-BCB8B63E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448175"/>
            <a:ext cx="86677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682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3,561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5092159-3770-436A-9545-FCB90612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448175"/>
            <a:ext cx="27241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682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clustered jump channel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55D1B95-AB8E-4315-BBFA-A409A784A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0"/>
            <a:ext cx="7334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83AD834-9A14-44EB-B128-21084E46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48225"/>
            <a:ext cx="14859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682" b="1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GARCH variance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6791F44-52B3-4F71-9715-AE0D47DD6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48225"/>
            <a:ext cx="7239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682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0.522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5BE259B-5430-472E-8A90-1C8E5F298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848225"/>
            <a:ext cx="86677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682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0.000056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E1A309B-9B71-47E0-8680-5FD4FD788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848225"/>
            <a:ext cx="86677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682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8,787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E1A28D9-B918-4DD9-A548-B2B21F3C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848225"/>
            <a:ext cx="27241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682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volatility persistence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C361F10-002F-4257-A099-99E18C759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533650"/>
            <a:ext cx="2333625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CBFD06C-3A94-4344-9CC0-DD1F1A01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813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235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0B2235"/>
                </a:solidFill>
                <a:latin typeface="Georgia"/>
                <a:ea typeface="Georgia"/>
                <a:cs typeface="Georgia"/>
              </a:rPr>
              <a:t>Course link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0E8A046-0BCB-4E56-8488-01D3B90A5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62300"/>
            <a:ext cx="17145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7C85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E7C85"/>
                </a:solidFill>
                <a:latin typeface="Avenir Next"/>
                <a:ea typeface="Avenir Next"/>
                <a:cs typeface="Avenir Next"/>
              </a:rPr>
              <a:t>Delta and Gamma approximate small smooth moves.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6E7C85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E7C85"/>
                </a:solidFill>
                <a:latin typeface="Avenir Next"/>
                <a:ea typeface="Avenir Next"/>
                <a:cs typeface="Avenir Next"/>
              </a:rPr>
              <a:t>A price jump is a discontinuity, so hedge error can be dominated by a move that no local derivative saw coming.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07C3CC2-88E1-41A1-9E21-F5D8314E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3880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29DD062-BE73-4C1B-90E9-AA49DF48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86425"/>
            <a:ext cx="9639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2235"/>
                </a:solidFill>
                <a:latin typeface="Georgia"/>
                <a:ea typeface="Georgia"/>
                <a:cs typeface="Georgia"/>
              </a:defRPr>
            </a:pPr>
            <a:r>
              <a:rPr sz="975" b="1">
                <a:solidFill>
                  <a:srgbClr val="0B2235"/>
                </a:solidFill>
                <a:latin typeface="Georgia"/>
                <a:ea typeface="Georgia"/>
                <a:cs typeface="Georgia"/>
              </a:rPr>
              <a:t>Comparison thread: MR-ISVM can fit surface curvature, Merton and Dynamic Jump change tail exposure, and GARCH keeps diffusion but updates variance.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D0897F2-D5EA-416A-89B1-66845BCDB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68E8A2A-11C3-425B-835D-B45937C2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6E7C85"/>
                </a:solidFill>
                <a:latin typeface="Avenir Next"/>
                <a:ea typeface="Avenir Next"/>
                <a:cs typeface="Avenir Next"/>
              </a:defRPr>
            </a:pPr>
            <a:r>
              <a:rPr sz="585" b="0">
                <a:solidFill>
                  <a:srgbClr val="6E7C85"/>
                </a:solidFill>
                <a:latin typeface="Avenir Next"/>
                <a:ea typeface="Avenir Next"/>
                <a:cs typeface="Avenir Next"/>
              </a:rPr>
              <a:t>Source: reports/tables/candidate_greek_summary.csv. Values shown for BTC ATM call at project parameter settings.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D243A1B-C591-4288-8BCD-B62CB2AE4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E7C85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E7C85"/>
                </a:solidFill>
                <a:latin typeface="Avenir Next"/>
                <a:ea typeface="Avenir Next"/>
                <a:cs typeface="Avenir Next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5986807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B5EC36-B877-4F8F-AD31-E7D9AE2F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021032-002B-4FF4-AECA-67DF48AD5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666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3C8407-50F9-4E4D-BC36-D374D2F39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HEDGING SIMULATION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F5F820-8AE0-47B1-B82D-0DF01894A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76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B2235"/>
                </a:solidFill>
                <a:latin typeface="Georgia"/>
                <a:ea typeface="Georgia"/>
                <a:cs typeface="Georgia"/>
              </a:defRPr>
            </a:pPr>
            <a:r>
              <a:rPr sz="2475" b="1">
                <a:solidFill>
                  <a:srgbClr val="0B2235"/>
                </a:solidFill>
                <a:latin typeface="Georgia"/>
                <a:ea typeface="Georgia"/>
                <a:cs typeface="Georgia"/>
              </a:rPr>
              <a:t>The best pricing model is not always the best hedge model.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A4DBF4-C167-480A-B02E-7F0A97C8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E7C85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>
                <a:solidFill>
                  <a:srgbClr val="6E7C85"/>
                </a:solidFill>
                <a:latin typeface="Avenir Next"/>
                <a:ea typeface="Avenir Next"/>
                <a:cs typeface="Avenir Next"/>
              </a:rPr>
              <a:t>We simulate short-option Delta hedging and compare mean absolute hedge P&amp;L by candidate.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A59C82-1967-4826-9C7A-791758E69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F2BFA7-E40A-438E-9A2C-CCDB3834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62200"/>
            <a:ext cx="5000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BTC mean absolute hedge P&amp;L, lower is better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A3B250-38C6-4185-9F32-58C4430E3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47950"/>
            <a:ext cx="5076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0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493758-7157-4AC3-B910-3AEE8646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1381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MR-ISVM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BE00C2-8889-4330-A22C-46CAEF4B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743200"/>
            <a:ext cx="2546996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11F0FF-03C6-4100-B2D6-701048F6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724150"/>
            <a:ext cx="5238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$1210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04D105-ADD4-4DB2-BE54-1153802B8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7241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600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BEST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994339-D7ED-4EC6-828F-0AF6077F5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24200"/>
            <a:ext cx="1381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GARCH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8505DA-C83E-494C-B3C4-2FDDD028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3143250"/>
            <a:ext cx="2572491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7C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87B662-7C5B-4E2F-AC9B-878EB70D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2266" y="31242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$1222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E6F74A-DFA0-4DCB-BF56-F8E05C019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0"/>
            <a:ext cx="1381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Dynamic jump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CEC697-952C-4158-AE1C-9B9EBE376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3543300"/>
            <a:ext cx="259400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5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DF237C-349E-4701-B027-FEA1C1565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83" y="35242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$1232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0D9714-4F31-418A-A93C-0A8FF1D42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24300"/>
            <a:ext cx="1381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Merton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1FDECF-F156-4B8D-9953-AA20668BC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3943350"/>
            <a:ext cx="2594534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D07F37-189D-4C61-8347-5C4BBFC78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4309" y="39243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$1232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143FD6-B18D-47F0-9E3A-8A02DC86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24350"/>
            <a:ext cx="1381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SVCJ proxy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CB93AD-4708-49EF-9B18-A5B2455C1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4343400"/>
            <a:ext cx="2635167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66CB26-395A-49CA-B70C-E77E171A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4942" y="43243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$1252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06D6D0-2EF4-4EAB-B2F9-D7070A0EC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24400"/>
            <a:ext cx="1381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Black-Scholes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B9A6A0-7E80-44E3-8BFD-DDB34202C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4743450"/>
            <a:ext cx="28003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1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523A19-DD75-4441-92CC-4313E82F7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7244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$1330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E558BC-9312-4A6F-AF04-5CB02B5C1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62200"/>
            <a:ext cx="5000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ETH mean absolute hedge P&amp;L, lower is better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0F5D46-A80C-47FB-B302-013295C0E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47950"/>
            <a:ext cx="5076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0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1C14F8-0503-41FA-9A4B-5CD109185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24150"/>
            <a:ext cx="1381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GARCH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D77377-FB8B-49BD-B19A-43253EA7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743200"/>
            <a:ext cx="222120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7C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B7827C-D968-475D-A6F4-0624DE4B7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724150"/>
            <a:ext cx="5238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$28.6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689E60-3EB4-4D44-8F78-349FDC1B7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27241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600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BEST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7C1410-C0AC-4E95-9733-0499FBFE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24200"/>
            <a:ext cx="1381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Black-Scholes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FF4DFF-18C7-4EA2-954E-F053C79C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143250"/>
            <a:ext cx="223593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1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2204B4D-5805-4C6A-911B-D1C4A1A7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4513" y="31242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$28.8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CF016F5-1F57-4FA9-891C-6EC005C3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24250"/>
            <a:ext cx="1381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MR-ISVM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3A6BD30-5545-4238-9A84-220EF749E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543300"/>
            <a:ext cx="23344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911E3A8-3FA4-4CB4-AD4C-8A04DC6C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975" y="35242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$30.1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64F3953-8A5D-4D89-AB52-DC54FBFF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24300"/>
            <a:ext cx="1381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Dynamic jump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2B9BCA3-8324-4FDF-B824-78E5266C8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943350"/>
            <a:ext cx="2428986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5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B159C88-8CAC-489C-BEE6-B9BBAAF49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561" y="39243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$31.3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081CE27-C518-4C08-BDF6-FF0C4DFC6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24350"/>
            <a:ext cx="1381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Merton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C541CD4-5AC9-43A5-ACBF-99DDD368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343400"/>
            <a:ext cx="247472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01C09E9-59B8-406F-BDB0-AB85E682E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3303" y="43243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$31.9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1A0E522-10F6-4ECC-A8F9-39F2C8F41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24400"/>
            <a:ext cx="1381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SVCJ proxy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D2A024D-A62D-46BE-A269-CE85AA280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743450"/>
            <a:ext cx="28003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DDFCCB0-BC06-46A0-A24F-AC029700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47244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0B2235"/>
                </a:solidFill>
                <a:latin typeface="Avenir Next"/>
                <a:ea typeface="Avenir Next"/>
                <a:cs typeface="Avenir Next"/>
              </a:rPr>
              <a:t>$36.1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8D4E853-B808-4D28-8B55-35C1E0AF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219700"/>
            <a:ext cx="704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6819C07-B117-4F92-B354-F6C7BD1DC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295900"/>
            <a:ext cx="1485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Underlying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72643D9-7676-4B16-AF28-0CFB90A0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295900"/>
            <a:ext cx="1485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Best hedge model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36ED302-CCCA-4074-8559-4B6AF035B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295900"/>
            <a:ext cx="1390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Mean |P&amp;L|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4AE36DD-8DE3-4733-9D54-FF65F783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295900"/>
            <a:ext cx="2152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Implication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1C2D9C8-654E-4E91-914B-E675CAC7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543550"/>
            <a:ext cx="704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0E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1BA63C8-09A9-4648-B8D6-13F0BC5C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619750"/>
            <a:ext cx="1485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BTC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1597CF1-B396-4508-8B5F-06B4EBEE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619750"/>
            <a:ext cx="1485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MR-ISVM surface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C5A4EC4-BD38-4535-AA1B-0AF912E93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619750"/>
            <a:ext cx="1390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$1,210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265DF1A-3F1A-4FD3-971F-40864D66B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619750"/>
            <a:ext cx="2152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Surface-aware Delta is most stable.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8B2BC73-D126-43C8-B5F5-DA0D8A1C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867400"/>
            <a:ext cx="704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0E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E88E4D1-45AD-4A03-9F97-93C8CF95B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943600"/>
            <a:ext cx="1485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ETH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9F6406E-3424-47DB-93AF-F7F3C1A3E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943600"/>
            <a:ext cx="1485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GARCH variance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E4E1383-4C38-4E31-85A4-20240E387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943600"/>
            <a:ext cx="1390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$28.7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367C86A-1FC7-4C5E-9F47-8BD546B86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943600"/>
            <a:ext cx="2152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Volatility memory helps hedging.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7BCD7A2-0FAB-4EF7-A00F-7C84F4E3D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21030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B2235"/>
                </a:solidFill>
                <a:latin typeface="Georgia"/>
                <a:ea typeface="Georgia"/>
                <a:cs typeface="Georgia"/>
              </a:defRPr>
            </a:pPr>
            <a:r>
              <a:rPr sz="788" b="1">
                <a:solidFill>
                  <a:srgbClr val="0B2235"/>
                </a:solidFill>
                <a:latin typeface="Georgia"/>
                <a:ea typeface="Georgia"/>
                <a:cs typeface="Georgia"/>
              </a:rPr>
              <a:t>Desk lesson: choose the model by the job. Marking, stress valuation, and hedging can legitimately point to different candidates.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831C677-6BC4-4D16-8237-66E73829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3F705FC-DD0D-4A46-BB1E-40E6E8844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6E7C85"/>
                </a:solidFill>
                <a:latin typeface="Avenir Next"/>
                <a:ea typeface="Avenir Next"/>
                <a:cs typeface="Avenir Next"/>
              </a:defRPr>
            </a:pPr>
            <a:r>
              <a:rPr sz="585" b="0">
                <a:solidFill>
                  <a:srgbClr val="6E7C85"/>
                </a:solidFill>
                <a:latin typeface="Avenir Next"/>
                <a:ea typeface="Avenir Next"/>
                <a:cs typeface="Avenir Next"/>
              </a:rPr>
              <a:t>Source: reports/tables/candidate_hedge_summary.csv. Short-option Delta hedging simulation; lower mean absolute P&amp;L means lower residual hedge error.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916C1C1-BBE5-4A32-9E70-6F1D1222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E7C85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E7C85"/>
                </a:solidFill>
                <a:latin typeface="Avenir Next"/>
                <a:ea typeface="Avenir Next"/>
                <a:cs typeface="Avenir Next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5359179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6A7057-63B2-40EC-A909-2B8A1D56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2F3049-E426-4DE0-A79E-9E82B29C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666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84393F-3D95-4282-B33E-68914DDB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RECOMMENDATION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5AA0AA-36E7-49EA-BA83-3E954587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76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B2235"/>
                </a:solidFill>
                <a:latin typeface="Georgia"/>
                <a:ea typeface="Georgia"/>
                <a:cs typeface="Georgia"/>
              </a:defRPr>
            </a:pPr>
            <a:r>
              <a:rPr sz="2475" b="1">
                <a:solidFill>
                  <a:srgbClr val="0B2235"/>
                </a:solidFill>
                <a:latin typeface="Georgia"/>
                <a:ea typeface="Georgia"/>
                <a:cs typeface="Georgia"/>
              </a:rPr>
              <a:t>Use a model stack: one model for marking, one for crash insurance, one for hedging diagnostics.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EDEC90-1D8F-45D5-B18F-67742DB4A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E7C85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>
                <a:solidFill>
                  <a:srgbClr val="6E7C85"/>
                </a:solidFill>
                <a:latin typeface="Avenir Next"/>
                <a:ea typeface="Avenir Next"/>
                <a:cs typeface="Avenir Next"/>
              </a:rPr>
              <a:t>This is the professional takeaway from the full candidate comparison.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EB935A-592B-4BAA-9EA9-EF09B708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43AA02-A5A9-4E9D-A784-B5CAF884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9858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94256B-8AFB-48CB-B666-475A4832A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3840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Desk objective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8E1F52-2AF5-49B7-AADD-C6DF8430B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438400"/>
            <a:ext cx="1676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Recommended 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2351ED-8666-4E84-A173-D231E817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38400"/>
            <a:ext cx="2200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Why it wins here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B10127-7D45-4FC3-8639-D95E9797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438400"/>
            <a:ext cx="3581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How to explain it to a non-expert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50BB2D-1D2E-4C2E-B1CF-87053AA5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00350"/>
            <a:ext cx="9858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0E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0B4238-9950-4676-AA44-D2A51B252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9560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690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BTC marking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989C09-AFF4-4F95-98E5-504466EFA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895600"/>
            <a:ext cx="1676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690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Merton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B0ECE1-EDE9-4B9A-8D13-E206CEC93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95600"/>
            <a:ext cx="2200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690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Lowest BTC MAE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85A8FC-A8D9-4DEC-B9EE-F6668FA4F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895600"/>
            <a:ext cx="3581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690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Random jumps fix the biggest BSM miss in BTC tails.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8B7BDB-3537-4C51-827C-042BACBF0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57550"/>
            <a:ext cx="9858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0E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23D721-C1BA-4081-924D-409C9B9EA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5280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690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ETH marking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996416-BB4F-4A18-8BCE-AAAFE185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352800"/>
            <a:ext cx="1676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690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MR-ISVM surface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5E65BD-DF2B-4EDA-A426-9CA13C3C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52800"/>
            <a:ext cx="2200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690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Lowest ETH MAE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59DD85-ACF6-4171-ACD5-10B1E8FD4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352800"/>
            <a:ext cx="3581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690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The current ETH smile contains useful regime information.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422EE8-19B4-41D4-BB8C-BC51FFE3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9858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0E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76B47E-25CE-412A-81E9-1904AAC94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690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Crash protection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88A2D5-094C-49BA-A04F-AB5A7CEBE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810000"/>
            <a:ext cx="1676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690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SVCJ proxy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2682A9-3942-4544-B946-ABE2909EC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10000"/>
            <a:ext cx="2200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690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Highest stressed put value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990197-455E-428C-BEA4-827C5A17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810000"/>
            <a:ext cx="3581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690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A crash is both a price drop and a volatility shock.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8B0528-6DEB-4020-91EE-35825AA5A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71950"/>
            <a:ext cx="9858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0E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9AE7F6-E7EE-49C9-874B-13645BA7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6720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690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BTC hedge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F19894-D7DB-4D14-B471-D97B14F9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267200"/>
            <a:ext cx="1676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690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MR-ISVM surface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82D6D4-98F6-47D7-B32B-2DC3368C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267200"/>
            <a:ext cx="2200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690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Lowest BTC hedge |P&amp;L|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0B43F7-74DB-40F9-98CE-28C261E39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4267200"/>
            <a:ext cx="3581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690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Hedging improves when the surface shape informs Delta.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929970-07BA-46EE-8D3A-E6008E932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29150"/>
            <a:ext cx="9858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0E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0B4EAF-5C82-4698-A346-B7C0C883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2440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690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ETH hedge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93636A-92CF-448E-99E9-3FD188E1B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724400"/>
            <a:ext cx="1676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690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GARCH variance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ECAE795-25F6-447E-8B03-011F457A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724400"/>
            <a:ext cx="2200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690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Lowest ETH hedge |P&amp;L|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23F29FA-CFE0-43BE-9C38-04D6D320C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4724400"/>
            <a:ext cx="3581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07C89"/>
                </a:solidFill>
                <a:latin typeface="Avenir Next"/>
                <a:ea typeface="Avenir Next"/>
                <a:cs typeface="Avenir Next"/>
              </a:defRPr>
            </a:pPr>
            <a:r>
              <a:rPr sz="690" b="1">
                <a:solidFill>
                  <a:srgbClr val="007C89"/>
                </a:solidFill>
                <a:latin typeface="Avenir Next"/>
                <a:ea typeface="Avenir Next"/>
                <a:cs typeface="Avenir Next"/>
              </a:rPr>
              <a:t>ETH hedge errors are better captured by volatility persistence.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E27C16-FE1E-4844-9808-786A1878D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14950"/>
            <a:ext cx="981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CC04ADF-A9E1-41E5-BAA2-A309E546D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483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0E2C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F0E2C8"/>
                </a:solidFill>
                <a:latin typeface="Avenir Next"/>
                <a:ea typeface="Avenir Next"/>
                <a:cs typeface="Avenir Next"/>
              </a:rPr>
              <a:t>Final synthesis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F1ECA6C-88F9-45A1-A0E8-CBA3CD9E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429250"/>
            <a:ext cx="742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9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BSM and CRR teach the replication logic; the candidate stack teaches where crypto market risk breaks the assumptions.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F54F26F-7DFC-49BA-B931-6739A08CF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24550"/>
            <a:ext cx="9810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FCE55F2-9BAA-4928-A9B9-42269BF3E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05790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B2235"/>
                </a:solidFill>
                <a:latin typeface="Georgia"/>
                <a:ea typeface="Georgia"/>
                <a:cs typeface="Georgia"/>
              </a:defRPr>
            </a:pPr>
            <a:r>
              <a:rPr sz="788" b="1">
                <a:solidFill>
                  <a:srgbClr val="0B2235"/>
                </a:solidFill>
                <a:latin typeface="Georgia"/>
                <a:ea typeface="Georgia"/>
                <a:cs typeface="Georgia"/>
              </a:rPr>
              <a:t>For a course project, the innovation is not claiming a single exotic model wins. It is showing how model choice changes by risk-management objective.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3494DB3-B5F5-4F45-8C22-9E40CCC46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05968D1-2D9E-4FA9-9FD1-D5D917B4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6E7C85"/>
                </a:solidFill>
                <a:latin typeface="Avenir Next"/>
                <a:ea typeface="Avenir Next"/>
                <a:cs typeface="Avenir Next"/>
              </a:defRPr>
            </a:pPr>
            <a:r>
              <a:rPr sz="585" b="0">
                <a:solidFill>
                  <a:srgbClr val="6E7C85"/>
                </a:solidFill>
                <a:latin typeface="Avenir Next"/>
                <a:ea typeface="Avenir Next"/>
                <a:cs typeface="Avenir Next"/>
              </a:rPr>
              <a:t>Sources: project pricing, stress, Greeks, and hedging tables.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522E019-6E4C-4952-B6F2-EDBCAD17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E7C85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E7C85"/>
                </a:solidFill>
                <a:latin typeface="Avenir Next"/>
                <a:ea typeface="Avenir Next"/>
                <a:cs typeface="Avenir Next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09528747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6CA079-B558-4D5F-8D5A-6608F5BEB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D87A22-89F6-40A9-B664-928EE2A0B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0E2C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0E2C8"/>
                </a:solidFill>
                <a:latin typeface="Avenir Next"/>
                <a:ea typeface="Avenir Next"/>
                <a:cs typeface="Avenir Next"/>
              </a:rPr>
              <a:t>Final Takeaway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052A44-FE73-4ABD-8B88-CB660A6C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838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7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Crypto options are a model-risk problem before they are a formula problem.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BE9532-C57D-45EF-B3A2-98DB233D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E8ED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DDE8ED"/>
                </a:solidFill>
                <a:latin typeface="Avenir Next"/>
                <a:ea typeface="Avenir Next"/>
                <a:cs typeface="Avenir Next"/>
              </a:rPr>
              <a:t>The course models give the replication baseline. The project extension shows why real crypto desks need jump-aware pricing, regime-aware surfaces, and hedge-error diagnostics working together.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111273-0E9B-47A4-8F19-E2CEA2D7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32766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3"/>
          </a:solidFill>
          <a:ln xmlns:a="http://schemas.openxmlformats.org/drawingml/2006/main" w="9525">
            <a:solidFill>
              <a:srgbClr val="35546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2A275D-5CCB-40CD-89B0-771542BF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143250"/>
            <a:ext cx="32766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3"/>
          </a:solidFill>
          <a:ln xmlns:a="http://schemas.openxmlformats.org/drawingml/2006/main" w="9525">
            <a:solidFill>
              <a:srgbClr val="35546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79D477-B387-4CAB-A064-537EA272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43250"/>
            <a:ext cx="32766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3"/>
          </a:solidFill>
          <a:ln xmlns:a="http://schemas.openxmlformats.org/drawingml/2006/main" w="9525">
            <a:solidFill>
              <a:srgbClr val="35546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D42DD7-4950-4364-AF3E-7C19DF6C7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0E2C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F0E2C8"/>
                </a:solidFill>
                <a:latin typeface="Avenir Next"/>
                <a:ea typeface="Avenir Next"/>
                <a:cs typeface="Avenir Next"/>
              </a:rPr>
              <a:t>1. Baseline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8B6A76-47AE-42C5-AF2F-E317CBE7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3380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BSM and CRR remain the no-arbitrage controls.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789BA9-0A68-4161-B629-C68A1EDB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0995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0E2C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F0E2C8"/>
                </a:solidFill>
                <a:latin typeface="Avenir Next"/>
                <a:ea typeface="Avenir Next"/>
                <a:cs typeface="Avenir Next"/>
              </a:rPr>
              <a:t>2. Innovation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936C1D-6541-43BA-A561-1C77C8E67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3380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Modern candidates separate jumps, regimes, and volatility memory.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6A0749-496E-4C6E-9642-6E0DF8A1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0995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0E2C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F0E2C8"/>
                </a:solidFill>
                <a:latin typeface="Avenir Next"/>
                <a:ea typeface="Avenir Next"/>
                <a:cs typeface="Avenir Next"/>
              </a:rPr>
              <a:t>3. Risk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12DBB6-1949-488F-87E7-D8888D578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3380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The best model depends on the desk objective.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CE9166-6804-4CF7-88D4-F2A181FE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4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DB2D0C-F79C-4960-9F80-82F828DF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292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0E2C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0E2C8"/>
                </a:solidFill>
                <a:latin typeface="Avenir Next"/>
                <a:ea typeface="Avenir Next"/>
                <a:cs typeface="Avenir Next"/>
              </a:rPr>
              <a:t>Core references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B48AD7-DF8E-4E3F-987C-EC4EF482C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0101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C7D7EA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C7D7EA"/>
                </a:solidFill>
                <a:latin typeface="Avenir Next"/>
                <a:ea typeface="Avenir Next"/>
                <a:cs typeface="Avenir Next"/>
              </a:rPr>
              <a:t>Black and Scholes (1973); Merton (1976); Cox, Ross, and Rubinstein (1979); Bates (1996); Venter and Mare (2021); Saef, Wang, and Aste (2022); Chen and Yang (2024); Jiang (2026), IEDA4331 lecture notes.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5FE821-E58F-4E68-AB04-4D4BCFA8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53100"/>
            <a:ext cx="266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Thank you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F280CD-7BEF-4EB3-A8F7-420D26C4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4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55D895-AB82-43FB-B415-704793ECF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AFC0C9"/>
                </a:solidFill>
                <a:latin typeface="Avenir Next"/>
                <a:ea typeface="Avenir Next"/>
                <a:cs typeface="Avenir Next"/>
              </a:defRPr>
            </a:pPr>
            <a:r>
              <a:rPr sz="585" b="0">
                <a:solidFill>
                  <a:srgbClr val="AFC0C9"/>
                </a:solidFill>
                <a:latin typeface="Avenir Next"/>
                <a:ea typeface="Avenir Next"/>
                <a:cs typeface="Avenir Next"/>
              </a:rPr>
              <a:t>Closing slide includes references to keep the main presentation within 15 slides total.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7C3812-C4EC-420B-B7A0-127D422BA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FC0C9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AFC0C9"/>
                </a:solidFill>
                <a:latin typeface="Avenir Next"/>
                <a:ea typeface="Avenir Next"/>
                <a:cs typeface="Avenir Next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5579896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2026-05-20T14:05:25.5610000Z</dcterms:created>
  <dcterms:modified xsi:type="dcterms:W3CDTF">2026-05-20T14:05:25.5610000Z</dcterms:modified>
</coreProperties>
</file>